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57" r:id="rId3"/>
    <p:sldId id="258" r:id="rId4"/>
    <p:sldId id="260" r:id="rId5"/>
    <p:sldId id="261" r:id="rId6"/>
    <p:sldId id="286" r:id="rId7"/>
    <p:sldId id="290" r:id="rId8"/>
    <p:sldId id="289" r:id="rId9"/>
    <p:sldId id="265" r:id="rId10"/>
    <p:sldId id="287" r:id="rId11"/>
    <p:sldId id="285" r:id="rId12"/>
    <p:sldId id="284" r:id="rId13"/>
    <p:sldId id="283" r:id="rId14"/>
    <p:sldId id="281" r:id="rId15"/>
    <p:sldId id="280" r:id="rId16"/>
    <p:sldId id="276" r:id="rId17"/>
    <p:sldId id="27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7DA"/>
    <a:srgbClr val="192D9D"/>
    <a:srgbClr val="EBA415"/>
    <a:srgbClr val="3178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9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99723-41B8-49F9-B72A-1C6CA71BE0CC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5DA7BAF9-EEF6-4203-B7CD-6B4BD8A466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17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99723-41B8-49F9-B72A-1C6CA71BE0CC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7BAF9-EEF6-4203-B7CD-6B4BD8A466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764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99723-41B8-49F9-B72A-1C6CA71BE0CC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5DA7BAF9-EEF6-4203-B7CD-6B4BD8A466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679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99723-41B8-49F9-B72A-1C6CA71BE0CC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7BAF9-EEF6-4203-B7CD-6B4BD8A466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830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99723-41B8-49F9-B72A-1C6CA71BE0CC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7BAF9-EEF6-4203-B7CD-6B4BD8A466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5782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99723-41B8-49F9-B72A-1C6CA71BE0CC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7BAF9-EEF6-4203-B7CD-6B4BD8A466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838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99723-41B8-49F9-B72A-1C6CA71BE0CC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7BAF9-EEF6-4203-B7CD-6B4BD8A466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270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99723-41B8-49F9-B72A-1C6CA71BE0CC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7BAF9-EEF6-4203-B7CD-6B4BD8A466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82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99723-41B8-49F9-B72A-1C6CA71BE0CC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7BAF9-EEF6-4203-B7CD-6B4BD8A466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890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99723-41B8-49F9-B72A-1C6CA71BE0CC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5DA7BAF9-EEF6-4203-B7CD-6B4BD8A466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711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99723-41B8-49F9-B72A-1C6CA71BE0CC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5DA7BAF9-EEF6-4203-B7CD-6B4BD8A466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2373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99723-41B8-49F9-B72A-1C6CA71BE0CC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5DA7BAF9-EEF6-4203-B7CD-6B4BD8A466B0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117020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99723-41B8-49F9-B72A-1C6CA71BE0CC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5DA7BAF9-EEF6-4203-B7CD-6B4BD8A466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3431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99723-41B8-49F9-B72A-1C6CA71BE0CC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7BAF9-EEF6-4203-B7CD-6B4BD8A466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14523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99723-41B8-49F9-B72A-1C6CA71BE0CC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7BAF9-EEF6-4203-B7CD-6B4BD8A466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6562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99723-41B8-49F9-B72A-1C6CA71BE0CC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7BAF9-EEF6-4203-B7CD-6B4BD8A466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1892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0BD99723-41B8-49F9-B72A-1C6CA71BE0CC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5DA7BAF9-EEF6-4203-B7CD-6B4BD8A466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548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D99723-41B8-49F9-B72A-1C6CA71BE0CC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A7BAF9-EEF6-4203-B7CD-6B4BD8A466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626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B05D1-4039-5811-0C1E-7A7C09DDD3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516076"/>
            <a:ext cx="3647440" cy="438771"/>
          </a:xfrm>
        </p:spPr>
        <p:txBody>
          <a:bodyPr>
            <a:normAutofit fontScale="90000"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Install Typescript – Chapter 1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F7634C-93A3-7050-FC0F-920CC5877F62}"/>
              </a:ext>
            </a:extLst>
          </p:cNvPr>
          <p:cNvSpPr txBox="1"/>
          <p:nvPr/>
        </p:nvSpPr>
        <p:spPr>
          <a:xfrm>
            <a:off x="2596411" y="930471"/>
            <a:ext cx="605005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>
                <a:solidFill>
                  <a:srgbClr val="0037DA"/>
                </a:solidFill>
                <a:latin typeface="Segoe UI Variable Text Semibold" pitchFamily="2" charset="0"/>
              </a:rPr>
              <a:t>TypeScript</a:t>
            </a:r>
            <a:endParaRPr lang="en-IN" sz="9600" dirty="0">
              <a:solidFill>
                <a:srgbClr val="0037DA"/>
              </a:solidFill>
              <a:latin typeface="Segoe UI Variable Text Semibold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2EBD49-EE01-781E-2A4B-179233560F37}"/>
              </a:ext>
            </a:extLst>
          </p:cNvPr>
          <p:cNvSpPr txBox="1"/>
          <p:nvPr/>
        </p:nvSpPr>
        <p:spPr>
          <a:xfrm>
            <a:off x="414435" y="2682828"/>
            <a:ext cx="10414006" cy="2893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>
                <a:latin typeface="Bahnschrift SemiBold SemiConden" panose="020B0502040204020203" pitchFamily="34" charset="0"/>
              </a:rPr>
              <a:t>Installation</a:t>
            </a:r>
            <a:br>
              <a:rPr lang="en-US" sz="6600" dirty="0"/>
            </a:br>
            <a:r>
              <a:rPr lang="en-US" sz="2800" dirty="0"/>
              <a:t>one-time setup</a:t>
            </a:r>
          </a:p>
          <a:p>
            <a:pPr algn="ctr"/>
            <a:endParaRPr lang="en-US" sz="2800" dirty="0"/>
          </a:p>
          <a:p>
            <a:pPr algn="ctr"/>
            <a:r>
              <a:rPr lang="en-US" sz="6000" b="1" dirty="0">
                <a:solidFill>
                  <a:srgbClr val="002060"/>
                </a:solidFill>
                <a:latin typeface="Trebuchet MS" panose="020B0603020202020204" pitchFamily="34" charset="0"/>
              </a:rPr>
              <a:t>Creating first APP with Axios</a:t>
            </a:r>
            <a:endParaRPr lang="en-IN" sz="6000" b="1" dirty="0">
              <a:solidFill>
                <a:srgbClr val="002060"/>
              </a:solidFill>
              <a:latin typeface="Trebuchet MS" panose="020B0603020202020204" pitchFamily="34" charset="0"/>
            </a:endParaRPr>
          </a:p>
        </p:txBody>
      </p:sp>
      <p:pic>
        <p:nvPicPr>
          <p:cNvPr id="1026" name="Picture 2" descr="Typescript - Free logo icons">
            <a:extLst>
              <a:ext uri="{FF2B5EF4-FFF2-40B4-BE49-F238E27FC236}">
                <a16:creationId xmlns:a16="http://schemas.microsoft.com/office/drawing/2014/main" id="{747ACA51-8793-622E-5937-052CC2A099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14" y="268224"/>
            <a:ext cx="2130349" cy="2130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A4824883-BE5A-1478-BDE7-3FF7BF9D686B}"/>
              </a:ext>
            </a:extLst>
          </p:cNvPr>
          <p:cNvSpPr/>
          <p:nvPr/>
        </p:nvSpPr>
        <p:spPr>
          <a:xfrm flipV="1">
            <a:off x="8303565" y="3026465"/>
            <a:ext cx="342900" cy="342900"/>
          </a:xfrm>
          <a:prstGeom prst="ellipse">
            <a:avLst/>
          </a:prstGeom>
          <a:noFill/>
          <a:ln w="44450">
            <a:solidFill>
              <a:schemeClr val="accent2">
                <a:lumMod val="40000"/>
                <a:lumOff val="60000"/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B1D8056-2B95-4C57-2EB8-1B126500580D}"/>
              </a:ext>
            </a:extLst>
          </p:cNvPr>
          <p:cNvSpPr/>
          <p:nvPr/>
        </p:nvSpPr>
        <p:spPr>
          <a:xfrm flipV="1">
            <a:off x="329708" y="4450974"/>
            <a:ext cx="426830" cy="426830"/>
          </a:xfrm>
          <a:prstGeom prst="ellipse">
            <a:avLst/>
          </a:prstGeom>
          <a:noFill/>
          <a:ln w="44450">
            <a:solidFill>
              <a:schemeClr val="bg2">
                <a:lumMod val="75000"/>
                <a:alpha val="2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BF81D4C-7708-CE35-1602-3646880096E8}"/>
              </a:ext>
            </a:extLst>
          </p:cNvPr>
          <p:cNvSpPr/>
          <p:nvPr/>
        </p:nvSpPr>
        <p:spPr>
          <a:xfrm flipV="1">
            <a:off x="10537473" y="1240217"/>
            <a:ext cx="475084" cy="475084"/>
          </a:xfrm>
          <a:prstGeom prst="ellipse">
            <a:avLst/>
          </a:prstGeom>
          <a:noFill/>
          <a:ln w="44450">
            <a:solidFill>
              <a:schemeClr val="tx2">
                <a:lumMod val="20000"/>
                <a:lumOff val="80000"/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541FFA9-60A9-85BC-8C91-67021BC38138}"/>
              </a:ext>
            </a:extLst>
          </p:cNvPr>
          <p:cNvSpPr/>
          <p:nvPr/>
        </p:nvSpPr>
        <p:spPr>
          <a:xfrm flipV="1">
            <a:off x="6678972" y="5927529"/>
            <a:ext cx="309561" cy="309561"/>
          </a:xfrm>
          <a:prstGeom prst="ellipse">
            <a:avLst/>
          </a:prstGeom>
          <a:noFill/>
          <a:ln w="44450">
            <a:solidFill>
              <a:schemeClr val="accent5">
                <a:lumMod val="60000"/>
                <a:lumOff val="40000"/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2CB23C5-1703-4EF6-6B48-D4BC4DA8ABC9}"/>
              </a:ext>
            </a:extLst>
          </p:cNvPr>
          <p:cNvSpPr/>
          <p:nvPr/>
        </p:nvSpPr>
        <p:spPr>
          <a:xfrm flipV="1">
            <a:off x="9692419" y="6166528"/>
            <a:ext cx="426830" cy="426830"/>
          </a:xfrm>
          <a:prstGeom prst="ellipse">
            <a:avLst/>
          </a:prstGeom>
          <a:noFill/>
          <a:ln w="44450">
            <a:solidFill>
              <a:srgbClr val="FFFF00">
                <a:alpha val="5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E518307-D499-157F-D7A8-19676B838F33}"/>
              </a:ext>
            </a:extLst>
          </p:cNvPr>
          <p:cNvSpPr/>
          <p:nvPr/>
        </p:nvSpPr>
        <p:spPr>
          <a:xfrm flipV="1">
            <a:off x="11303002" y="4358816"/>
            <a:ext cx="345875" cy="345875"/>
          </a:xfrm>
          <a:prstGeom prst="ellipse">
            <a:avLst/>
          </a:prstGeom>
          <a:noFill/>
          <a:ln w="44450">
            <a:solidFill>
              <a:schemeClr val="tx2">
                <a:lumMod val="40000"/>
                <a:lumOff val="60000"/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6BA278-8ED5-071E-E877-667A3374C629}"/>
              </a:ext>
            </a:extLst>
          </p:cNvPr>
          <p:cNvSpPr txBox="1"/>
          <p:nvPr/>
        </p:nvSpPr>
        <p:spPr>
          <a:xfrm>
            <a:off x="11267059" y="2936884"/>
            <a:ext cx="554960" cy="1286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9300"/>
              </a:lnSpc>
            </a:pPr>
            <a:r>
              <a:rPr lang="en-US" sz="96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1</a:t>
            </a:r>
            <a:endParaRPr lang="en-IN" sz="96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4B4EFC-FC7D-64FE-B8AD-FF7E46DA19E2}"/>
              </a:ext>
            </a:extLst>
          </p:cNvPr>
          <p:cNvSpPr txBox="1"/>
          <p:nvPr/>
        </p:nvSpPr>
        <p:spPr>
          <a:xfrm>
            <a:off x="9283161" y="3009148"/>
            <a:ext cx="20794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Chapter</a:t>
            </a:r>
            <a:endParaRPr lang="en-IN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763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5E3A1-89AA-3FF5-9295-4F8DC02E9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360EF6F-8A81-172A-3147-ECD77A72B167}"/>
              </a:ext>
            </a:extLst>
          </p:cNvPr>
          <p:cNvSpPr/>
          <p:nvPr/>
        </p:nvSpPr>
        <p:spPr>
          <a:xfrm>
            <a:off x="0" y="2099935"/>
            <a:ext cx="9038598" cy="4361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923CE6-CA7A-F2FB-334B-900636C319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515334"/>
            <a:ext cx="3720548" cy="438771"/>
          </a:xfrm>
        </p:spPr>
        <p:txBody>
          <a:bodyPr>
            <a:normAutofit fontScale="90000"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Install Typescript – Chapter 1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A30E85-3974-1D8F-EED9-EF46A8EBC36C}"/>
              </a:ext>
            </a:extLst>
          </p:cNvPr>
          <p:cNvSpPr txBox="1"/>
          <p:nvPr/>
        </p:nvSpPr>
        <p:spPr>
          <a:xfrm>
            <a:off x="1204707" y="583479"/>
            <a:ext cx="54827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0037DA"/>
                </a:solidFill>
                <a:latin typeface="Segoe UI Variable Text Semibold" pitchFamily="2" charset="0"/>
              </a:rPr>
              <a:t>TypeScript</a:t>
            </a:r>
            <a:endParaRPr lang="en-IN" sz="4000" b="1" dirty="0">
              <a:latin typeface="Bahnschrift SemiBold SemiConden" panose="020B0502040204020203" pitchFamily="34" charset="0"/>
            </a:endParaRPr>
          </a:p>
        </p:txBody>
      </p:sp>
      <p:pic>
        <p:nvPicPr>
          <p:cNvPr id="1026" name="Picture 2" descr="Typescript - Free logo icons">
            <a:extLst>
              <a:ext uri="{FF2B5EF4-FFF2-40B4-BE49-F238E27FC236}">
                <a16:creationId xmlns:a16="http://schemas.microsoft.com/office/drawing/2014/main" id="{EB627004-260D-163F-C436-E5A0B42147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15" y="268225"/>
            <a:ext cx="958692" cy="958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A1F95D-46A6-4036-4933-BC3393343461}"/>
              </a:ext>
            </a:extLst>
          </p:cNvPr>
          <p:cNvSpPr txBox="1"/>
          <p:nvPr/>
        </p:nvSpPr>
        <p:spPr>
          <a:xfrm>
            <a:off x="397413" y="2290547"/>
            <a:ext cx="864118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37DA"/>
                </a:solidFill>
                <a:latin typeface="Bahnschrift SemiBold SemiConden" panose="020B0502040204020203" pitchFamily="34" charset="0"/>
              </a:rPr>
              <a:t>Window</a:t>
            </a:r>
            <a:br>
              <a:rPr lang="en-US" sz="2400" dirty="0">
                <a:solidFill>
                  <a:srgbClr val="0037DA"/>
                </a:solidFill>
                <a:latin typeface="Bahnschrift SemiBold SemiConden" panose="020B0502040204020203" pitchFamily="34" charset="0"/>
              </a:rPr>
            </a:br>
            <a:r>
              <a:rPr lang="en-US" sz="2400" dirty="0">
                <a:solidFill>
                  <a:srgbClr val="0037DA"/>
                </a:solidFill>
              </a:rPr>
              <a:t> </a:t>
            </a:r>
            <a:r>
              <a:rPr lang="en-US" sz="2400" dirty="0"/>
              <a:t>1. Install Node: Download Node from </a:t>
            </a:r>
            <a:r>
              <a:rPr lang="en-US" sz="2400" i="1" dirty="0">
                <a:solidFill>
                  <a:srgbClr val="0037DA"/>
                </a:solidFill>
              </a:rPr>
              <a:t>https://nodejs.org/en</a:t>
            </a:r>
            <a:br>
              <a:rPr lang="en-US" sz="2400" dirty="0"/>
            </a:br>
            <a:r>
              <a:rPr lang="en-US" sz="2400" dirty="0"/>
              <a:t>2. Check if “</a:t>
            </a:r>
            <a:r>
              <a:rPr lang="en-US" sz="2400" b="1" dirty="0" err="1">
                <a:solidFill>
                  <a:srgbClr val="0037DA"/>
                </a:solidFill>
              </a:rPr>
              <a:t>npm</a:t>
            </a:r>
            <a:r>
              <a:rPr lang="en-US" sz="2400" dirty="0"/>
              <a:t>” is installed correctly: “</a:t>
            </a:r>
            <a:r>
              <a:rPr lang="en-US" sz="2400" i="1" dirty="0" err="1">
                <a:solidFill>
                  <a:srgbClr val="0037DA"/>
                </a:solidFill>
              </a:rPr>
              <a:t>npm</a:t>
            </a:r>
            <a:r>
              <a:rPr lang="en-US" sz="2400" i="1" dirty="0">
                <a:solidFill>
                  <a:srgbClr val="0037DA"/>
                </a:solidFill>
              </a:rPr>
              <a:t> - -version</a:t>
            </a:r>
            <a:r>
              <a:rPr lang="en-US" sz="2400" i="1" dirty="0"/>
              <a:t>” </a:t>
            </a:r>
            <a:r>
              <a:rPr lang="en-US" sz="2400" dirty="0"/>
              <a:t>on CMD</a:t>
            </a:r>
          </a:p>
          <a:p>
            <a:r>
              <a:rPr lang="en-US" sz="2400" dirty="0"/>
              <a:t>3. Install </a:t>
            </a:r>
            <a:r>
              <a:rPr lang="en-US" sz="2400" b="1" dirty="0">
                <a:solidFill>
                  <a:srgbClr val="0037DA"/>
                </a:solidFill>
              </a:rPr>
              <a:t>Typescript</a:t>
            </a:r>
            <a:r>
              <a:rPr lang="en-US" sz="2400" dirty="0"/>
              <a:t> and </a:t>
            </a:r>
            <a:r>
              <a:rPr lang="en-US" sz="2400" b="1" dirty="0" err="1">
                <a:solidFill>
                  <a:srgbClr val="0037DA"/>
                </a:solidFill>
              </a:rPr>
              <a:t>ts</a:t>
            </a:r>
            <a:r>
              <a:rPr lang="en-US" sz="2400" b="1" dirty="0">
                <a:solidFill>
                  <a:srgbClr val="0037DA"/>
                </a:solidFill>
              </a:rPr>
              <a:t>-node </a:t>
            </a:r>
            <a:r>
              <a:rPr lang="en-US" sz="2400" dirty="0"/>
              <a:t>“</a:t>
            </a:r>
            <a:r>
              <a:rPr lang="en-IN" sz="2400" i="1" dirty="0" err="1">
                <a:solidFill>
                  <a:srgbClr val="0037DA"/>
                </a:solidFill>
              </a:rPr>
              <a:t>npm</a:t>
            </a:r>
            <a:r>
              <a:rPr lang="en-IN" sz="2400" i="1" dirty="0">
                <a:solidFill>
                  <a:srgbClr val="0037DA"/>
                </a:solidFill>
              </a:rPr>
              <a:t> install -g typescript </a:t>
            </a:r>
            <a:r>
              <a:rPr lang="en-IN" sz="2400" i="1" dirty="0" err="1">
                <a:solidFill>
                  <a:srgbClr val="0037DA"/>
                </a:solidFill>
              </a:rPr>
              <a:t>ts</a:t>
            </a:r>
            <a:r>
              <a:rPr lang="en-IN" sz="2400" i="1" dirty="0">
                <a:solidFill>
                  <a:srgbClr val="0037DA"/>
                </a:solidFill>
              </a:rPr>
              <a:t>-node</a:t>
            </a:r>
            <a:r>
              <a:rPr lang="en-IN" sz="2400" i="1" dirty="0"/>
              <a:t>”</a:t>
            </a:r>
            <a:br>
              <a:rPr lang="en-IN" sz="2400" i="1" dirty="0"/>
            </a:br>
            <a:endParaRPr lang="en-IN" sz="2400" dirty="0"/>
          </a:p>
          <a:p>
            <a:r>
              <a:rPr lang="en-IN" sz="2400" dirty="0">
                <a:solidFill>
                  <a:srgbClr val="0037DA"/>
                </a:solidFill>
                <a:latin typeface="Bahnschrift SemiBold SemiConden" panose="020B0502040204020203" pitchFamily="34" charset="0"/>
              </a:rPr>
              <a:t>macOS</a:t>
            </a:r>
            <a:br>
              <a:rPr lang="en-IN" sz="2400" i="1" dirty="0">
                <a:solidFill>
                  <a:srgbClr val="0037DA"/>
                </a:solidFill>
              </a:rPr>
            </a:br>
            <a:r>
              <a:rPr lang="en-IN" sz="2400" dirty="0"/>
              <a:t>If getting </a:t>
            </a:r>
            <a:r>
              <a:rPr lang="en-IN" sz="2400" b="1" i="1" dirty="0">
                <a:solidFill>
                  <a:srgbClr val="C00000"/>
                </a:solidFill>
              </a:rPr>
              <a:t>EACCESS</a:t>
            </a:r>
            <a:r>
              <a:rPr lang="en-IN" sz="2400" dirty="0"/>
              <a:t> error, add “</a:t>
            </a:r>
            <a:r>
              <a:rPr lang="en-IN" sz="2400" b="1" i="1" dirty="0" err="1">
                <a:solidFill>
                  <a:srgbClr val="0037DA"/>
                </a:solidFill>
              </a:rPr>
              <a:t>sudo</a:t>
            </a:r>
            <a:r>
              <a:rPr lang="en-IN" sz="2400" i="1" dirty="0"/>
              <a:t>”</a:t>
            </a:r>
            <a:r>
              <a:rPr lang="en-IN" sz="2400" dirty="0"/>
              <a:t> in front of the command</a:t>
            </a:r>
            <a:br>
              <a:rPr lang="en-IN" sz="2400" dirty="0"/>
            </a:br>
            <a:r>
              <a:rPr lang="en-US" sz="2400" dirty="0"/>
              <a:t>“</a:t>
            </a:r>
            <a:r>
              <a:rPr lang="en-US" sz="2400" i="1" dirty="0" err="1">
                <a:solidFill>
                  <a:srgbClr val="0037DA"/>
                </a:solidFill>
              </a:rPr>
              <a:t>sudo</a:t>
            </a:r>
            <a:r>
              <a:rPr lang="en-US" sz="2400" i="1" dirty="0">
                <a:solidFill>
                  <a:srgbClr val="0037DA"/>
                </a:solidFill>
              </a:rPr>
              <a:t> </a:t>
            </a:r>
            <a:r>
              <a:rPr lang="en-IN" sz="2400" i="1" dirty="0" err="1">
                <a:solidFill>
                  <a:srgbClr val="0037DA"/>
                </a:solidFill>
              </a:rPr>
              <a:t>npm</a:t>
            </a:r>
            <a:r>
              <a:rPr lang="en-IN" sz="2400" i="1" dirty="0">
                <a:solidFill>
                  <a:srgbClr val="0037DA"/>
                </a:solidFill>
              </a:rPr>
              <a:t> install -g typescript </a:t>
            </a:r>
            <a:r>
              <a:rPr lang="en-IN" sz="2400" i="1" dirty="0" err="1">
                <a:solidFill>
                  <a:srgbClr val="0037DA"/>
                </a:solidFill>
              </a:rPr>
              <a:t>ts-node</a:t>
            </a:r>
            <a:r>
              <a:rPr lang="en-IN" sz="2400" i="1" dirty="0" err="1"/>
              <a:t>”m</a:t>
            </a:r>
            <a:endParaRPr lang="en-IN" sz="2400" i="1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09896EE-08BE-5E6E-7B23-4CA9E6FBDBA2}"/>
              </a:ext>
            </a:extLst>
          </p:cNvPr>
          <p:cNvSpPr/>
          <p:nvPr/>
        </p:nvSpPr>
        <p:spPr>
          <a:xfrm flipV="1">
            <a:off x="8475635" y="541117"/>
            <a:ext cx="685800" cy="685800"/>
          </a:xfrm>
          <a:prstGeom prst="ellipse">
            <a:avLst/>
          </a:prstGeom>
          <a:noFill/>
          <a:ln w="44450">
            <a:solidFill>
              <a:schemeClr val="accent2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AB6E9EC-B1AA-9B17-C615-5B9EA22519BA}"/>
              </a:ext>
            </a:extLst>
          </p:cNvPr>
          <p:cNvSpPr/>
          <p:nvPr/>
        </p:nvSpPr>
        <p:spPr>
          <a:xfrm flipV="1">
            <a:off x="6524584" y="4139941"/>
            <a:ext cx="1011582" cy="1011582"/>
          </a:xfrm>
          <a:prstGeom prst="ellipse">
            <a:avLst/>
          </a:prstGeom>
          <a:noFill/>
          <a:ln w="44450">
            <a:solidFill>
              <a:schemeClr val="bg1">
                <a:alpha val="2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A2D7F89-0AAE-7C07-033F-B157DE10ED3A}"/>
              </a:ext>
            </a:extLst>
          </p:cNvPr>
          <p:cNvSpPr/>
          <p:nvPr/>
        </p:nvSpPr>
        <p:spPr>
          <a:xfrm flipV="1">
            <a:off x="10734581" y="5676972"/>
            <a:ext cx="685800" cy="685800"/>
          </a:xfrm>
          <a:prstGeom prst="ellipse">
            <a:avLst/>
          </a:prstGeom>
          <a:noFill/>
          <a:ln w="44450">
            <a:solidFill>
              <a:schemeClr val="tx2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75DD229-8826-4412-0B16-5B854A6A33C7}"/>
              </a:ext>
            </a:extLst>
          </p:cNvPr>
          <p:cNvSpPr/>
          <p:nvPr/>
        </p:nvSpPr>
        <p:spPr>
          <a:xfrm flipV="1">
            <a:off x="9018417" y="4368039"/>
            <a:ext cx="508791" cy="508791"/>
          </a:xfrm>
          <a:prstGeom prst="ellipse">
            <a:avLst/>
          </a:prstGeom>
          <a:noFill/>
          <a:ln w="44450">
            <a:solidFill>
              <a:srgbClr val="92D05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88ED546-28D7-4D48-B65B-FA7132DD1295}"/>
              </a:ext>
            </a:extLst>
          </p:cNvPr>
          <p:cNvSpPr/>
          <p:nvPr/>
        </p:nvSpPr>
        <p:spPr>
          <a:xfrm flipV="1">
            <a:off x="6796249" y="4508084"/>
            <a:ext cx="368746" cy="368746"/>
          </a:xfrm>
          <a:prstGeom prst="ellipse">
            <a:avLst/>
          </a:prstGeom>
          <a:noFill/>
          <a:ln w="44450">
            <a:solidFill>
              <a:srgbClr val="FFFF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88C7C1-94C9-CF60-286A-6102BE580259}"/>
              </a:ext>
            </a:extLst>
          </p:cNvPr>
          <p:cNvSpPr txBox="1"/>
          <p:nvPr/>
        </p:nvSpPr>
        <p:spPr>
          <a:xfrm>
            <a:off x="377232" y="1345451"/>
            <a:ext cx="61473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0037DA"/>
                </a:solidFill>
                <a:latin typeface="Bahnschrift SemiBold SemiConden" panose="020B0502040204020203" pitchFamily="34" charset="0"/>
              </a:rPr>
              <a:t>Environment Setup</a:t>
            </a:r>
            <a:endParaRPr lang="en-IN" sz="4800" dirty="0">
              <a:solidFill>
                <a:srgbClr val="0037DA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34FE23-6319-C0D8-8FA3-7E37AC205FB3}"/>
              </a:ext>
            </a:extLst>
          </p:cNvPr>
          <p:cNvSpPr txBox="1"/>
          <p:nvPr/>
        </p:nvSpPr>
        <p:spPr>
          <a:xfrm>
            <a:off x="11267059" y="2936884"/>
            <a:ext cx="554960" cy="1286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9300"/>
              </a:lnSpc>
            </a:pPr>
            <a:r>
              <a:rPr lang="en-US" sz="96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1</a:t>
            </a:r>
            <a:endParaRPr lang="en-IN" sz="96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070CEB-633A-6024-D683-B9265CFC1062}"/>
              </a:ext>
            </a:extLst>
          </p:cNvPr>
          <p:cNvSpPr txBox="1"/>
          <p:nvPr/>
        </p:nvSpPr>
        <p:spPr>
          <a:xfrm>
            <a:off x="9283161" y="3009148"/>
            <a:ext cx="20794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Chapter</a:t>
            </a:r>
            <a:endParaRPr lang="en-IN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0531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0B862-904D-8A44-C37E-CE8DB8940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C1661E1-D64B-0180-869B-DAF7E4AFBAEB}"/>
              </a:ext>
            </a:extLst>
          </p:cNvPr>
          <p:cNvSpPr/>
          <p:nvPr/>
        </p:nvSpPr>
        <p:spPr>
          <a:xfrm>
            <a:off x="0" y="2574576"/>
            <a:ext cx="9038598" cy="2794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A01ECE-ABFC-B341-B390-3692B23881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479796"/>
            <a:ext cx="3830320" cy="438771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Install </a:t>
            </a:r>
            <a:r>
              <a:rPr lang="en-US" sz="2400" dirty="0" err="1">
                <a:solidFill>
                  <a:schemeClr val="bg1"/>
                </a:solidFill>
              </a:rPr>
              <a:t>VSCode</a:t>
            </a:r>
            <a:r>
              <a:rPr lang="en-US" sz="2400" dirty="0">
                <a:solidFill>
                  <a:schemeClr val="bg1"/>
                </a:solidFill>
              </a:rPr>
              <a:t> – Chapter 2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8CBE6E-3B27-4E9D-CED0-A6F6DD67B21B}"/>
              </a:ext>
            </a:extLst>
          </p:cNvPr>
          <p:cNvSpPr txBox="1"/>
          <p:nvPr/>
        </p:nvSpPr>
        <p:spPr>
          <a:xfrm>
            <a:off x="163179" y="2685069"/>
            <a:ext cx="8018542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>
                <a:latin typeface="Bahnschrift SemiBold SemiConden" panose="020B0502040204020203" pitchFamily="34" charset="0"/>
              </a:rPr>
              <a:t>Download &amp; installation</a:t>
            </a:r>
            <a:br>
              <a:rPr lang="en-US" sz="6600" dirty="0"/>
            </a:br>
            <a:r>
              <a:rPr lang="en-US" sz="2800" dirty="0"/>
              <a:t>code editor</a:t>
            </a:r>
            <a:endParaRPr lang="en-IN" sz="2800" dirty="0"/>
          </a:p>
        </p:txBody>
      </p:sp>
      <p:pic>
        <p:nvPicPr>
          <p:cNvPr id="1026" name="Picture 2" descr="Typescript - Free logo icons">
            <a:extLst>
              <a:ext uri="{FF2B5EF4-FFF2-40B4-BE49-F238E27FC236}">
                <a16:creationId xmlns:a16="http://schemas.microsoft.com/office/drawing/2014/main" id="{919835DA-7A99-C336-24E2-05E1513C9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14" y="268224"/>
            <a:ext cx="767777" cy="76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62B4850-CA24-F14B-B395-59022B2E0766}"/>
              </a:ext>
            </a:extLst>
          </p:cNvPr>
          <p:cNvSpPr txBox="1"/>
          <p:nvPr/>
        </p:nvSpPr>
        <p:spPr>
          <a:xfrm>
            <a:off x="246014" y="4436141"/>
            <a:ext cx="69867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i="1" dirty="0">
                <a:solidFill>
                  <a:srgbClr val="0037DA"/>
                </a:solidFill>
              </a:rPr>
              <a:t>https://code.visualstudio.com/download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8D689E-4C90-4FDE-D271-EB26489A1DF5}"/>
              </a:ext>
            </a:extLst>
          </p:cNvPr>
          <p:cNvSpPr txBox="1"/>
          <p:nvPr/>
        </p:nvSpPr>
        <p:spPr>
          <a:xfrm>
            <a:off x="1013790" y="482602"/>
            <a:ext cx="55394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37DA"/>
                </a:solidFill>
                <a:latin typeface="Segoe UI Variable Text Semibold" pitchFamily="2" charset="0"/>
              </a:rPr>
              <a:t>TypeScript</a:t>
            </a:r>
            <a:endParaRPr lang="en-IN" sz="3600" b="1" dirty="0">
              <a:latin typeface="Bahnschrift SemiBold SemiConden" panose="020B0502040204020203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B62CA04-3450-C3E0-1D9C-92C150FF272B}"/>
              </a:ext>
            </a:extLst>
          </p:cNvPr>
          <p:cNvGrpSpPr/>
          <p:nvPr/>
        </p:nvGrpSpPr>
        <p:grpSpPr>
          <a:xfrm>
            <a:off x="246014" y="1294971"/>
            <a:ext cx="4215848" cy="1200329"/>
            <a:chOff x="3430655" y="1795175"/>
            <a:chExt cx="4215848" cy="120032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6FDE251-6F5B-3290-AE9C-A7873E927D9F}"/>
                </a:ext>
              </a:extLst>
            </p:cNvPr>
            <p:cNvSpPr txBox="1"/>
            <p:nvPr/>
          </p:nvSpPr>
          <p:spPr>
            <a:xfrm>
              <a:off x="4465981" y="1795175"/>
              <a:ext cx="318052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200" dirty="0" err="1">
                  <a:solidFill>
                    <a:srgbClr val="0037DA"/>
                  </a:solidFill>
                  <a:latin typeface="Bahnschrift SemiBold SemiConden" panose="020B0502040204020203" pitchFamily="34" charset="0"/>
                </a:rPr>
                <a:t>VSCode</a:t>
              </a:r>
              <a:endParaRPr lang="en-IN" sz="7200" dirty="0">
                <a:solidFill>
                  <a:srgbClr val="0037DA"/>
                </a:solidFill>
                <a:latin typeface="Bahnschrift SemiBold SemiConden" panose="020B0502040204020203" pitchFamily="34" charset="0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7B2DCE9-DCF4-7F11-48E0-062D65CECD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30655" y="1895573"/>
              <a:ext cx="1099931" cy="10999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4875F057-2891-52F6-A8C8-A60BC6D8193D}"/>
              </a:ext>
            </a:extLst>
          </p:cNvPr>
          <p:cNvSpPr/>
          <p:nvPr/>
        </p:nvSpPr>
        <p:spPr>
          <a:xfrm flipV="1">
            <a:off x="506231" y="5020916"/>
            <a:ext cx="685800" cy="685800"/>
          </a:xfrm>
          <a:prstGeom prst="ellipse">
            <a:avLst/>
          </a:prstGeom>
          <a:noFill/>
          <a:ln w="44450">
            <a:solidFill>
              <a:schemeClr val="accent2">
                <a:lumMod val="40000"/>
                <a:lumOff val="60000"/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1BA9C78-E43C-609C-2E70-CC1EE34AC030}"/>
              </a:ext>
            </a:extLst>
          </p:cNvPr>
          <p:cNvSpPr/>
          <p:nvPr/>
        </p:nvSpPr>
        <p:spPr>
          <a:xfrm flipV="1">
            <a:off x="1779864" y="5363816"/>
            <a:ext cx="1011582" cy="1011582"/>
          </a:xfrm>
          <a:prstGeom prst="ellipse">
            <a:avLst/>
          </a:prstGeom>
          <a:noFill/>
          <a:ln w="44450">
            <a:solidFill>
              <a:schemeClr val="bg1">
                <a:alpha val="2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7E09BC9-BFD8-6BA4-5388-B10FC5E12328}"/>
              </a:ext>
            </a:extLst>
          </p:cNvPr>
          <p:cNvSpPr/>
          <p:nvPr/>
        </p:nvSpPr>
        <p:spPr>
          <a:xfrm flipV="1">
            <a:off x="7956274" y="5477843"/>
            <a:ext cx="685800" cy="685800"/>
          </a:xfrm>
          <a:prstGeom prst="ellipse">
            <a:avLst/>
          </a:prstGeom>
          <a:noFill/>
          <a:ln w="44450">
            <a:solidFill>
              <a:schemeClr val="tx2">
                <a:lumMod val="40000"/>
                <a:lumOff val="60000"/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84F285D-16DC-732D-D691-2F4D2A2A8932}"/>
              </a:ext>
            </a:extLst>
          </p:cNvPr>
          <p:cNvSpPr/>
          <p:nvPr/>
        </p:nvSpPr>
        <p:spPr>
          <a:xfrm flipV="1">
            <a:off x="8019551" y="3930794"/>
            <a:ext cx="368746" cy="368746"/>
          </a:xfrm>
          <a:prstGeom prst="ellipse">
            <a:avLst/>
          </a:prstGeom>
          <a:noFill/>
          <a:ln w="44450">
            <a:solidFill>
              <a:schemeClr val="tx2">
                <a:lumMod val="40000"/>
                <a:lumOff val="60000"/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51DB8AA-97DC-34AE-858C-BDDE2AB473EF}"/>
              </a:ext>
            </a:extLst>
          </p:cNvPr>
          <p:cNvSpPr/>
          <p:nvPr/>
        </p:nvSpPr>
        <p:spPr>
          <a:xfrm flipV="1">
            <a:off x="4277489" y="5869607"/>
            <a:ext cx="368746" cy="368746"/>
          </a:xfrm>
          <a:prstGeom prst="ellipse">
            <a:avLst/>
          </a:prstGeom>
          <a:noFill/>
          <a:ln w="44450">
            <a:solidFill>
              <a:schemeClr val="tx2">
                <a:lumMod val="40000"/>
                <a:lumOff val="60000"/>
                <a:alpha val="82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4C36B1-5669-D2F5-5D79-C40760341FFB}"/>
              </a:ext>
            </a:extLst>
          </p:cNvPr>
          <p:cNvSpPr txBox="1"/>
          <p:nvPr/>
        </p:nvSpPr>
        <p:spPr>
          <a:xfrm>
            <a:off x="11267059" y="2936884"/>
            <a:ext cx="554960" cy="1286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9300"/>
              </a:lnSpc>
            </a:pPr>
            <a:r>
              <a:rPr lang="en-US" sz="96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1</a:t>
            </a:r>
            <a:endParaRPr lang="en-IN" sz="9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600A28-F17E-A009-C16F-FBF130E2C94F}"/>
              </a:ext>
            </a:extLst>
          </p:cNvPr>
          <p:cNvSpPr txBox="1"/>
          <p:nvPr/>
        </p:nvSpPr>
        <p:spPr>
          <a:xfrm>
            <a:off x="9283161" y="3009148"/>
            <a:ext cx="20794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Chapter</a:t>
            </a:r>
            <a:endParaRPr lang="en-IN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874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34F40-0446-0B0E-DF81-2DFA2DAE1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BC282FE-EDCF-0A1C-D25C-858DBA5EED59}"/>
              </a:ext>
            </a:extLst>
          </p:cNvPr>
          <p:cNvSpPr/>
          <p:nvPr/>
        </p:nvSpPr>
        <p:spPr>
          <a:xfrm>
            <a:off x="81280" y="2574576"/>
            <a:ext cx="8957318" cy="2794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6" name="Picture 2" descr="Typescript - Free logo icons">
            <a:extLst>
              <a:ext uri="{FF2B5EF4-FFF2-40B4-BE49-F238E27FC236}">
                <a16:creationId xmlns:a16="http://schemas.microsoft.com/office/drawing/2014/main" id="{B8626707-613C-EE15-B1D8-AF49A65CB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14" y="268224"/>
            <a:ext cx="767777" cy="76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28A71D-A8D6-1E5D-2B30-CB67FEC86673}"/>
              </a:ext>
            </a:extLst>
          </p:cNvPr>
          <p:cNvSpPr txBox="1"/>
          <p:nvPr/>
        </p:nvSpPr>
        <p:spPr>
          <a:xfrm>
            <a:off x="301763" y="1412239"/>
            <a:ext cx="50928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Bahnschrift SemiBold SemiConden" panose="020B0502040204020203" pitchFamily="34" charset="0"/>
              </a:rPr>
              <a:t>First APP</a:t>
            </a:r>
            <a:endParaRPr lang="en-IN" sz="7200" dirty="0">
              <a:latin typeface="Bahnschrift SemiBold SemiConden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9FB1CE-EEF5-682D-2AA1-0D10643FED8B}"/>
              </a:ext>
            </a:extLst>
          </p:cNvPr>
          <p:cNvSpPr txBox="1"/>
          <p:nvPr/>
        </p:nvSpPr>
        <p:spPr>
          <a:xfrm>
            <a:off x="301764" y="2574576"/>
            <a:ext cx="8659356" cy="279448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Let’s take a look at the fake API we'll use to fetch data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Create a new project directory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Create a </a:t>
            </a:r>
            <a:r>
              <a:rPr lang="en-US" sz="2400" dirty="0" err="1"/>
              <a:t>package.json</a:t>
            </a:r>
            <a:r>
              <a:rPr lang="en-US" sz="2400" dirty="0"/>
              <a:t> file – </a:t>
            </a:r>
            <a:r>
              <a:rPr lang="en-US" sz="2400" i="1" dirty="0" err="1">
                <a:solidFill>
                  <a:srgbClr val="0070C0"/>
                </a:solidFill>
              </a:rPr>
              <a:t>npm</a:t>
            </a:r>
            <a:r>
              <a:rPr lang="en-US" sz="2400" i="1" dirty="0">
                <a:solidFill>
                  <a:srgbClr val="0070C0"/>
                </a:solidFill>
              </a:rPr>
              <a:t> </a:t>
            </a:r>
            <a:r>
              <a:rPr lang="en-US" sz="2400" i="1" dirty="0" err="1">
                <a:solidFill>
                  <a:srgbClr val="0070C0"/>
                </a:solidFill>
              </a:rPr>
              <a:t>init</a:t>
            </a:r>
            <a:r>
              <a:rPr lang="en-US" sz="2400" i="1" dirty="0">
                <a:solidFill>
                  <a:srgbClr val="0070C0"/>
                </a:solidFill>
              </a:rPr>
              <a:t> -y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Install Axios to make a request – </a:t>
            </a:r>
            <a:r>
              <a:rPr lang="en-US" sz="2400" i="1" dirty="0" err="1">
                <a:solidFill>
                  <a:srgbClr val="0070C0"/>
                </a:solidFill>
              </a:rPr>
              <a:t>npm</a:t>
            </a:r>
            <a:r>
              <a:rPr lang="en-US" sz="2400" i="1" dirty="0">
                <a:solidFill>
                  <a:srgbClr val="0070C0"/>
                </a:solidFill>
              </a:rPr>
              <a:t> install </a:t>
            </a:r>
            <a:r>
              <a:rPr lang="en-US" sz="2400" i="1" dirty="0" err="1">
                <a:solidFill>
                  <a:srgbClr val="0070C0"/>
                </a:solidFill>
              </a:rPr>
              <a:t>axios</a:t>
            </a:r>
            <a:endParaRPr lang="en-US" sz="2400" i="1" dirty="0">
              <a:solidFill>
                <a:srgbClr val="0070C0"/>
              </a:solidFill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Let’s write code!</a:t>
            </a:r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6E1E17-4F10-434D-CD36-54E67D7A0BAF}"/>
              </a:ext>
            </a:extLst>
          </p:cNvPr>
          <p:cNvSpPr txBox="1"/>
          <p:nvPr/>
        </p:nvSpPr>
        <p:spPr>
          <a:xfrm>
            <a:off x="1013790" y="482602"/>
            <a:ext cx="47164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37DA"/>
                </a:solidFill>
                <a:latin typeface="Segoe UI Variable Text Semibold" pitchFamily="2" charset="0"/>
              </a:rPr>
              <a:t>TypeScript</a:t>
            </a:r>
            <a:endParaRPr lang="en-IN" sz="3600" b="1" dirty="0">
              <a:latin typeface="Bahnschrift SemiBold SemiConden" panose="020B0502040204020203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460D02-43A6-8064-D62C-4CA7AD0D39D2}"/>
              </a:ext>
            </a:extLst>
          </p:cNvPr>
          <p:cNvSpPr/>
          <p:nvPr/>
        </p:nvSpPr>
        <p:spPr>
          <a:xfrm flipV="1">
            <a:off x="6913749" y="4956842"/>
            <a:ext cx="685800" cy="685800"/>
          </a:xfrm>
          <a:prstGeom prst="ellipse">
            <a:avLst/>
          </a:prstGeom>
          <a:noFill/>
          <a:ln w="44450">
            <a:solidFill>
              <a:schemeClr val="accent2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BB9BF26-DA17-1742-A1A6-F061263141E9}"/>
              </a:ext>
            </a:extLst>
          </p:cNvPr>
          <p:cNvSpPr/>
          <p:nvPr/>
        </p:nvSpPr>
        <p:spPr>
          <a:xfrm flipV="1">
            <a:off x="7989612" y="1412239"/>
            <a:ext cx="309561" cy="309561"/>
          </a:xfrm>
          <a:prstGeom prst="ellipse">
            <a:avLst/>
          </a:prstGeom>
          <a:noFill/>
          <a:ln w="44450">
            <a:solidFill>
              <a:srgbClr val="92D05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0B44455-EC92-F527-D609-6F8E2DFAC628}"/>
              </a:ext>
            </a:extLst>
          </p:cNvPr>
          <p:cNvSpPr/>
          <p:nvPr/>
        </p:nvSpPr>
        <p:spPr>
          <a:xfrm flipV="1">
            <a:off x="10618304" y="5924605"/>
            <a:ext cx="685800" cy="685800"/>
          </a:xfrm>
          <a:prstGeom prst="ellipse">
            <a:avLst/>
          </a:prstGeom>
          <a:noFill/>
          <a:ln w="44450">
            <a:solidFill>
              <a:schemeClr val="accent3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7169FD-C7AF-9143-0A7E-E9D5F1CF9B37}"/>
              </a:ext>
            </a:extLst>
          </p:cNvPr>
          <p:cNvSpPr txBox="1"/>
          <p:nvPr/>
        </p:nvSpPr>
        <p:spPr>
          <a:xfrm>
            <a:off x="11267059" y="2936884"/>
            <a:ext cx="748923" cy="1286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9300"/>
              </a:lnSpc>
            </a:pPr>
            <a:r>
              <a:rPr lang="en-US" sz="96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2</a:t>
            </a:r>
            <a:endParaRPr lang="en-IN" sz="96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475386-5B97-B5CA-201C-DE868313BE26}"/>
              </a:ext>
            </a:extLst>
          </p:cNvPr>
          <p:cNvSpPr txBox="1"/>
          <p:nvPr/>
        </p:nvSpPr>
        <p:spPr>
          <a:xfrm>
            <a:off x="9283161" y="3009148"/>
            <a:ext cx="20794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Chapter</a:t>
            </a:r>
            <a:endParaRPr lang="en-IN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4905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F534A-DE39-3D97-8F21-4EE56C739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E50FC42-BD0A-42A2-7146-800BF98CD211}"/>
              </a:ext>
            </a:extLst>
          </p:cNvPr>
          <p:cNvSpPr/>
          <p:nvPr/>
        </p:nvSpPr>
        <p:spPr>
          <a:xfrm>
            <a:off x="0" y="1696664"/>
            <a:ext cx="9038598" cy="31064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023897-2C52-4500-D7F9-0A23F5221C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519142"/>
            <a:ext cx="3720548" cy="438771"/>
          </a:xfrm>
        </p:spPr>
        <p:txBody>
          <a:bodyPr>
            <a:normAutofit fontScale="90000"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Execute typescript – chapter 4</a:t>
            </a: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1026" name="Picture 2" descr="Typescript - Free logo icons">
            <a:extLst>
              <a:ext uri="{FF2B5EF4-FFF2-40B4-BE49-F238E27FC236}">
                <a16:creationId xmlns:a16="http://schemas.microsoft.com/office/drawing/2014/main" id="{128F41F0-15ED-B2B0-543A-1B49A69F8B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14" y="268224"/>
            <a:ext cx="767777" cy="76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11644E-69D3-A4BD-CB9E-E850EF2506F2}"/>
              </a:ext>
            </a:extLst>
          </p:cNvPr>
          <p:cNvSpPr txBox="1"/>
          <p:nvPr/>
        </p:nvSpPr>
        <p:spPr>
          <a:xfrm>
            <a:off x="301117" y="1854048"/>
            <a:ext cx="891154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0037DA"/>
                </a:solidFill>
                <a:latin typeface="Bahnschrift SemiBold SemiConden" panose="020B0502040204020203" pitchFamily="34" charset="0"/>
              </a:rPr>
              <a:t>Fake API with TypeScript</a:t>
            </a:r>
            <a:br>
              <a:rPr lang="en-US" sz="5400" dirty="0">
                <a:latin typeface="Bahnschrift SemiBold SemiConden" panose="020B0502040204020203" pitchFamily="34" charset="0"/>
              </a:rPr>
            </a:br>
            <a:r>
              <a:rPr lang="en-US" sz="5400" dirty="0">
                <a:latin typeface="Bahnschrift SemiBold SemiConden" panose="020B0502040204020203" pitchFamily="34" charset="0"/>
              </a:rPr>
              <a:t>with Axios and displaying unexpected behavior</a:t>
            </a:r>
            <a:endParaRPr lang="en-IN" sz="5400" dirty="0">
              <a:latin typeface="Bahnschrift SemiBold SemiConden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9E75EB-0B48-A5C2-DCA0-895D0DB326D4}"/>
              </a:ext>
            </a:extLst>
          </p:cNvPr>
          <p:cNvSpPr txBox="1"/>
          <p:nvPr/>
        </p:nvSpPr>
        <p:spPr>
          <a:xfrm>
            <a:off x="1013791" y="482602"/>
            <a:ext cx="25444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37DA"/>
                </a:solidFill>
                <a:latin typeface="Segoe UI Variable Text Semibold" pitchFamily="2" charset="0"/>
              </a:rPr>
              <a:t>TypeScript </a:t>
            </a:r>
            <a:endParaRPr lang="en-IN" sz="3600" b="1" dirty="0">
              <a:latin typeface="Bahnschrift SemiBold SemiConden" panose="020B0502040204020203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70A8F64-4694-F869-E41C-0E9912CF08D1}"/>
              </a:ext>
            </a:extLst>
          </p:cNvPr>
          <p:cNvSpPr/>
          <p:nvPr/>
        </p:nvSpPr>
        <p:spPr>
          <a:xfrm flipV="1">
            <a:off x="6096000" y="4204037"/>
            <a:ext cx="685800" cy="685800"/>
          </a:xfrm>
          <a:prstGeom prst="ellipse">
            <a:avLst/>
          </a:prstGeom>
          <a:noFill/>
          <a:ln w="44450">
            <a:solidFill>
              <a:schemeClr val="accent2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3E17E00-4493-D6CC-5BD7-404E4915B250}"/>
              </a:ext>
            </a:extLst>
          </p:cNvPr>
          <p:cNvSpPr/>
          <p:nvPr/>
        </p:nvSpPr>
        <p:spPr>
          <a:xfrm flipV="1">
            <a:off x="2877204" y="5852660"/>
            <a:ext cx="414526" cy="414526"/>
          </a:xfrm>
          <a:prstGeom prst="ellipse">
            <a:avLst/>
          </a:prstGeom>
          <a:noFill/>
          <a:ln w="44450">
            <a:solidFill>
              <a:srgbClr val="FFFF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6F09D4C-8ABD-66DA-D8A4-1466D3A90968}"/>
              </a:ext>
            </a:extLst>
          </p:cNvPr>
          <p:cNvSpPr/>
          <p:nvPr/>
        </p:nvSpPr>
        <p:spPr>
          <a:xfrm flipV="1">
            <a:off x="5302307" y="5951508"/>
            <a:ext cx="631355" cy="631355"/>
          </a:xfrm>
          <a:prstGeom prst="ellipse">
            <a:avLst/>
          </a:prstGeom>
          <a:noFill/>
          <a:ln w="44450">
            <a:solidFill>
              <a:schemeClr val="tx2">
                <a:lumMod val="20000"/>
                <a:lumOff val="8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ACA559-27CF-EC57-42D7-96D3686B6952}"/>
              </a:ext>
            </a:extLst>
          </p:cNvPr>
          <p:cNvSpPr/>
          <p:nvPr/>
        </p:nvSpPr>
        <p:spPr>
          <a:xfrm flipV="1">
            <a:off x="7989612" y="1412239"/>
            <a:ext cx="309561" cy="309561"/>
          </a:xfrm>
          <a:prstGeom prst="ellipse">
            <a:avLst/>
          </a:prstGeom>
          <a:noFill/>
          <a:ln w="44450">
            <a:solidFill>
              <a:schemeClr val="accent5">
                <a:lumMod val="60000"/>
                <a:lumOff val="40000"/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75E0FAC-2AE2-1385-3569-078F5AD2B9EF}"/>
              </a:ext>
            </a:extLst>
          </p:cNvPr>
          <p:cNvSpPr/>
          <p:nvPr/>
        </p:nvSpPr>
        <p:spPr>
          <a:xfrm flipV="1">
            <a:off x="10635802" y="4225956"/>
            <a:ext cx="426830" cy="426830"/>
          </a:xfrm>
          <a:prstGeom prst="ellipse">
            <a:avLst/>
          </a:prstGeom>
          <a:noFill/>
          <a:ln w="44450">
            <a:solidFill>
              <a:srgbClr val="FFFF00">
                <a:alpha val="5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3563EBF-DD58-EA74-8FE4-6AC01377CFB8}"/>
              </a:ext>
            </a:extLst>
          </p:cNvPr>
          <p:cNvSpPr/>
          <p:nvPr/>
        </p:nvSpPr>
        <p:spPr>
          <a:xfrm flipV="1">
            <a:off x="8900272" y="5166860"/>
            <a:ext cx="685800" cy="685800"/>
          </a:xfrm>
          <a:prstGeom prst="ellipse">
            <a:avLst/>
          </a:prstGeom>
          <a:noFill/>
          <a:ln w="44450">
            <a:solidFill>
              <a:srgbClr val="00B0F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DCEE06-618E-96E6-8C69-485790B905FD}"/>
              </a:ext>
            </a:extLst>
          </p:cNvPr>
          <p:cNvSpPr txBox="1"/>
          <p:nvPr/>
        </p:nvSpPr>
        <p:spPr>
          <a:xfrm>
            <a:off x="11267059" y="2936884"/>
            <a:ext cx="748923" cy="1286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9300"/>
              </a:lnSpc>
            </a:pPr>
            <a:r>
              <a:rPr lang="en-US" sz="96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2</a:t>
            </a:r>
            <a:endParaRPr lang="en-IN" sz="96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284F27-71B1-D5F7-3B97-0EDD5898FF93}"/>
              </a:ext>
            </a:extLst>
          </p:cNvPr>
          <p:cNvSpPr txBox="1"/>
          <p:nvPr/>
        </p:nvSpPr>
        <p:spPr>
          <a:xfrm>
            <a:off x="9283161" y="3009148"/>
            <a:ext cx="20794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Chapter</a:t>
            </a:r>
            <a:endParaRPr lang="en-IN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2245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F4372-E2DB-5CFF-4B94-ACA7FD9D7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87D86-5534-2053-F2C2-A02209CE4C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519142"/>
            <a:ext cx="3720548" cy="438771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Types – chapter 7</a:t>
            </a: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1026" name="Picture 2" descr="Typescript - Free logo icons">
            <a:extLst>
              <a:ext uri="{FF2B5EF4-FFF2-40B4-BE49-F238E27FC236}">
                <a16:creationId xmlns:a16="http://schemas.microsoft.com/office/drawing/2014/main" id="{12F93F49-6B15-C8C4-CCBE-E71FFAC20D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46" y="437322"/>
            <a:ext cx="2004009" cy="2004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8B67ADA-D34F-ED06-B989-0BCBD98C9E2A}"/>
              </a:ext>
            </a:extLst>
          </p:cNvPr>
          <p:cNvSpPr txBox="1"/>
          <p:nvPr/>
        </p:nvSpPr>
        <p:spPr>
          <a:xfrm>
            <a:off x="2224655" y="1117892"/>
            <a:ext cx="57526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rgbClr val="0037DA"/>
                </a:solidFill>
                <a:latin typeface="Arial Rounded MT Bold" panose="020F0704030504030204" pitchFamily="34" charset="0"/>
              </a:rPr>
              <a:t>TypeScript</a:t>
            </a:r>
            <a:endParaRPr lang="en-IN" sz="8000" b="1" dirty="0">
              <a:latin typeface="Arial Rounded MT Bold" panose="020F07040305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50C337-A054-F9B8-6A70-C6B4AE550ED8}"/>
              </a:ext>
            </a:extLst>
          </p:cNvPr>
          <p:cNvSpPr txBox="1"/>
          <p:nvPr/>
        </p:nvSpPr>
        <p:spPr>
          <a:xfrm>
            <a:off x="11267059" y="2936884"/>
            <a:ext cx="748923" cy="1286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9300"/>
              </a:lnSpc>
            </a:pPr>
            <a:r>
              <a:rPr lang="en-US" sz="96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2</a:t>
            </a:r>
            <a:endParaRPr lang="en-IN" sz="96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9092DA-E156-05EA-A749-486253C53D39}"/>
              </a:ext>
            </a:extLst>
          </p:cNvPr>
          <p:cNvSpPr txBox="1"/>
          <p:nvPr/>
        </p:nvSpPr>
        <p:spPr>
          <a:xfrm>
            <a:off x="9283161" y="3009148"/>
            <a:ext cx="20794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Chapter</a:t>
            </a:r>
            <a:endParaRPr lang="en-IN" sz="48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D5B217-A668-E0A6-3859-D39817E2F812}"/>
              </a:ext>
            </a:extLst>
          </p:cNvPr>
          <p:cNvSpPr txBox="1"/>
          <p:nvPr/>
        </p:nvSpPr>
        <p:spPr>
          <a:xfrm>
            <a:off x="393669" y="4558414"/>
            <a:ext cx="114046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0037DA"/>
                </a:solidFill>
                <a:latin typeface="Aptos Display" panose="020B0004020202020204" pitchFamily="34" charset="0"/>
              </a:rPr>
              <a:t>Hit like👍, Share ➤ and Subscribe 🔔</a:t>
            </a:r>
            <a:endParaRPr lang="en-IN" sz="5400" b="1" dirty="0">
              <a:solidFill>
                <a:srgbClr val="0037DA"/>
              </a:solidFill>
              <a:latin typeface="Aptos Display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6AFF95-0FAB-C64C-5700-3C946F3639FB}"/>
              </a:ext>
            </a:extLst>
          </p:cNvPr>
          <p:cNvSpPr txBox="1"/>
          <p:nvPr/>
        </p:nvSpPr>
        <p:spPr>
          <a:xfrm>
            <a:off x="7686299" y="5815292"/>
            <a:ext cx="430278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192D9D"/>
                </a:solidFill>
                <a:latin typeface="Rage Italic" panose="03070502040507070304" pitchFamily="66" charset="0"/>
              </a:rPr>
              <a:t>By- Gautam Kumar</a:t>
            </a:r>
            <a:endParaRPr lang="en-IN" sz="4400" dirty="0">
              <a:solidFill>
                <a:srgbClr val="192D9D"/>
              </a:solidFill>
              <a:latin typeface="Rage Italic" panose="03070502040507070304" pitchFamily="66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292E47-7E64-CDB1-1D7C-265924570262}"/>
              </a:ext>
            </a:extLst>
          </p:cNvPr>
          <p:cNvSpPr txBox="1"/>
          <p:nvPr/>
        </p:nvSpPr>
        <p:spPr>
          <a:xfrm>
            <a:off x="176018" y="2936884"/>
            <a:ext cx="85412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accent1"/>
                </a:solidFill>
                <a:latin typeface="Bahnschrift SemiBold SemiConden" panose="020B0502040204020203" pitchFamily="34" charset="0"/>
              </a:rPr>
              <a:t>Write code and catch errors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44FDB8D-1D2B-0BD8-5601-87DCC35663B2}"/>
              </a:ext>
            </a:extLst>
          </p:cNvPr>
          <p:cNvSpPr/>
          <p:nvPr/>
        </p:nvSpPr>
        <p:spPr>
          <a:xfrm>
            <a:off x="9548381" y="271080"/>
            <a:ext cx="2004009" cy="200400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2005FF1-A02C-E5C0-DA33-BF0660E3F6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2869" y="654648"/>
            <a:ext cx="456394" cy="76460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2203E1F-5716-95F6-F702-D4389D8AF425}"/>
              </a:ext>
            </a:extLst>
          </p:cNvPr>
          <p:cNvSpPr txBox="1"/>
          <p:nvPr/>
        </p:nvSpPr>
        <p:spPr>
          <a:xfrm>
            <a:off x="9837690" y="1387116"/>
            <a:ext cx="14253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rgbClr val="192D9D"/>
                </a:solidFill>
              </a:rPr>
              <a:t>uidhtml</a:t>
            </a:r>
            <a:endParaRPr lang="en-IN" sz="2800" dirty="0">
              <a:solidFill>
                <a:srgbClr val="192D9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1299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4D37A-1B24-B89E-22A1-75D2D58A7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D69CD-2967-9385-B341-38702A6C25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519142"/>
            <a:ext cx="3720548" cy="438771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Types – chapter 7</a:t>
            </a: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1026" name="Picture 2" descr="Typescript - Free logo icons">
            <a:extLst>
              <a:ext uri="{FF2B5EF4-FFF2-40B4-BE49-F238E27FC236}">
                <a16:creationId xmlns:a16="http://schemas.microsoft.com/office/drawing/2014/main" id="{64E95AA1-3C8E-0FDE-F23F-E9777F1F0D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46" y="437322"/>
            <a:ext cx="2004009" cy="2004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B7959A-41E9-0CFD-5FF7-3A4CC54ED5DD}"/>
              </a:ext>
            </a:extLst>
          </p:cNvPr>
          <p:cNvSpPr txBox="1"/>
          <p:nvPr/>
        </p:nvSpPr>
        <p:spPr>
          <a:xfrm>
            <a:off x="2224655" y="1117892"/>
            <a:ext cx="57526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rgbClr val="0037DA"/>
                </a:solidFill>
                <a:latin typeface="Arial Rounded MT Bold" panose="020F0704030504030204" pitchFamily="34" charset="0"/>
              </a:rPr>
              <a:t>TypeScript</a:t>
            </a:r>
            <a:endParaRPr lang="en-IN" sz="8000" b="1" dirty="0">
              <a:latin typeface="Arial Rounded MT Bold" panose="020F07040305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621B8F-EB0F-4168-BE4E-DCC690C2761F}"/>
              </a:ext>
            </a:extLst>
          </p:cNvPr>
          <p:cNvSpPr txBox="1"/>
          <p:nvPr/>
        </p:nvSpPr>
        <p:spPr>
          <a:xfrm>
            <a:off x="11267059" y="2936884"/>
            <a:ext cx="748923" cy="1286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9300"/>
              </a:lnSpc>
            </a:pPr>
            <a:r>
              <a:rPr lang="en-US" sz="96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2</a:t>
            </a:r>
            <a:endParaRPr lang="en-IN" sz="96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F753E1-5EA4-F6BA-39F6-49BCF4B2452E}"/>
              </a:ext>
            </a:extLst>
          </p:cNvPr>
          <p:cNvSpPr txBox="1"/>
          <p:nvPr/>
        </p:nvSpPr>
        <p:spPr>
          <a:xfrm>
            <a:off x="9283161" y="3009148"/>
            <a:ext cx="20794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Chapter</a:t>
            </a:r>
            <a:endParaRPr lang="en-IN" sz="48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B61478-4551-857A-E185-11B7FA8E8041}"/>
              </a:ext>
            </a:extLst>
          </p:cNvPr>
          <p:cNvSpPr txBox="1"/>
          <p:nvPr/>
        </p:nvSpPr>
        <p:spPr>
          <a:xfrm>
            <a:off x="393669" y="4558414"/>
            <a:ext cx="114046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0037DA"/>
                </a:solidFill>
                <a:latin typeface="Aptos Display" panose="020B0004020202020204" pitchFamily="34" charset="0"/>
              </a:rPr>
              <a:t>Hit like👍, Share ➤ and Subscribe 🔔</a:t>
            </a:r>
            <a:endParaRPr lang="en-IN" sz="5400" b="1" dirty="0">
              <a:solidFill>
                <a:srgbClr val="0037DA"/>
              </a:solidFill>
              <a:latin typeface="Aptos Display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E94FD2-E401-26CC-F529-659730CCD267}"/>
              </a:ext>
            </a:extLst>
          </p:cNvPr>
          <p:cNvSpPr txBox="1"/>
          <p:nvPr/>
        </p:nvSpPr>
        <p:spPr>
          <a:xfrm>
            <a:off x="7686299" y="5815292"/>
            <a:ext cx="430278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192D9D"/>
                </a:solidFill>
                <a:latin typeface="Rage Italic" panose="03070502040507070304" pitchFamily="66" charset="0"/>
              </a:rPr>
              <a:t>By- Gautam Kumar</a:t>
            </a:r>
            <a:endParaRPr lang="en-IN" sz="4400" dirty="0">
              <a:solidFill>
                <a:srgbClr val="192D9D"/>
              </a:solidFill>
              <a:latin typeface="Rage Italic" panose="03070502040507070304" pitchFamily="66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EED4DA-3E8B-B59B-C5BE-22130AAB5262}"/>
              </a:ext>
            </a:extLst>
          </p:cNvPr>
          <p:cNvSpPr txBox="1"/>
          <p:nvPr/>
        </p:nvSpPr>
        <p:spPr>
          <a:xfrm>
            <a:off x="159152" y="2870648"/>
            <a:ext cx="88019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chemeClr val="accent1"/>
                </a:solidFill>
                <a:latin typeface="Bahnschrift SemiBold SemiConden" panose="020B0502040204020203" pitchFamily="34" charset="0"/>
              </a:rPr>
              <a:t>Syntax and design pattern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ADA453D-391F-6588-4548-F588C2A6A8EE}"/>
              </a:ext>
            </a:extLst>
          </p:cNvPr>
          <p:cNvSpPr/>
          <p:nvPr/>
        </p:nvSpPr>
        <p:spPr>
          <a:xfrm>
            <a:off x="9548381" y="271080"/>
            <a:ext cx="2004009" cy="200400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D2B7906-4CDF-C519-6084-CF4D7D3309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2869" y="654648"/>
            <a:ext cx="456394" cy="76460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F7AF313-8FA0-1027-7179-B49EA2C893E4}"/>
              </a:ext>
            </a:extLst>
          </p:cNvPr>
          <p:cNvSpPr txBox="1"/>
          <p:nvPr/>
        </p:nvSpPr>
        <p:spPr>
          <a:xfrm>
            <a:off x="9837690" y="1387116"/>
            <a:ext cx="14253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rgbClr val="192D9D"/>
                </a:solidFill>
              </a:rPr>
              <a:t>uidhtml</a:t>
            </a:r>
            <a:endParaRPr lang="en-IN" sz="2800" dirty="0">
              <a:solidFill>
                <a:srgbClr val="192D9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8024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B5006-8375-5507-7610-F5E67A735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A612A-39B0-30B6-A990-B3D053A134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519142"/>
            <a:ext cx="3720548" cy="438771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Types – chapter 7</a:t>
            </a: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1026" name="Picture 2" descr="Typescript - Free logo icons">
            <a:extLst>
              <a:ext uri="{FF2B5EF4-FFF2-40B4-BE49-F238E27FC236}">
                <a16:creationId xmlns:a16="http://schemas.microsoft.com/office/drawing/2014/main" id="{52C313CE-48B0-62EE-26CC-4FC014362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46" y="437322"/>
            <a:ext cx="2004009" cy="2004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829FA6A-FCFB-2052-916E-88A4B2DA2F2B}"/>
              </a:ext>
            </a:extLst>
          </p:cNvPr>
          <p:cNvSpPr txBox="1"/>
          <p:nvPr/>
        </p:nvSpPr>
        <p:spPr>
          <a:xfrm>
            <a:off x="2224655" y="1117892"/>
            <a:ext cx="57526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rgbClr val="0037DA"/>
                </a:solidFill>
                <a:latin typeface="Arial Rounded MT Bold" panose="020F0704030504030204" pitchFamily="34" charset="0"/>
              </a:rPr>
              <a:t>TypeScript</a:t>
            </a:r>
            <a:endParaRPr lang="en-IN" sz="8000" b="1" dirty="0">
              <a:latin typeface="Arial Rounded MT Bold" panose="020F07040305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7E9ED7-8A07-259F-1E89-B648FDAD12F5}"/>
              </a:ext>
            </a:extLst>
          </p:cNvPr>
          <p:cNvSpPr txBox="1"/>
          <p:nvPr/>
        </p:nvSpPr>
        <p:spPr>
          <a:xfrm>
            <a:off x="11267059" y="2936884"/>
            <a:ext cx="748923" cy="1286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9300"/>
              </a:lnSpc>
            </a:pPr>
            <a:r>
              <a:rPr lang="en-US" sz="96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3</a:t>
            </a:r>
            <a:endParaRPr lang="en-IN" sz="96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EEEF36-83E5-4171-5014-3979A43BA2F4}"/>
              </a:ext>
            </a:extLst>
          </p:cNvPr>
          <p:cNvSpPr txBox="1"/>
          <p:nvPr/>
        </p:nvSpPr>
        <p:spPr>
          <a:xfrm>
            <a:off x="9283161" y="3009148"/>
            <a:ext cx="20794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Chapter</a:t>
            </a:r>
            <a:endParaRPr lang="en-IN" sz="48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22E796-4F86-3398-E818-9394E78CE53E}"/>
              </a:ext>
            </a:extLst>
          </p:cNvPr>
          <p:cNvSpPr txBox="1"/>
          <p:nvPr/>
        </p:nvSpPr>
        <p:spPr>
          <a:xfrm>
            <a:off x="393669" y="4558414"/>
            <a:ext cx="114046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0037DA"/>
                </a:solidFill>
                <a:latin typeface="Aptos Display" panose="020B0004020202020204" pitchFamily="34" charset="0"/>
              </a:rPr>
              <a:t>Hit like👍, Share ➤ and Subscribe 🔔</a:t>
            </a:r>
            <a:endParaRPr lang="en-IN" sz="5400" b="1" dirty="0">
              <a:solidFill>
                <a:srgbClr val="0037DA"/>
              </a:solidFill>
              <a:latin typeface="Aptos Display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4E88EB-2389-8A09-870B-A45E62F7FA00}"/>
              </a:ext>
            </a:extLst>
          </p:cNvPr>
          <p:cNvSpPr txBox="1"/>
          <p:nvPr/>
        </p:nvSpPr>
        <p:spPr>
          <a:xfrm>
            <a:off x="7686299" y="5815292"/>
            <a:ext cx="430278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192D9D"/>
                </a:solidFill>
                <a:latin typeface="Rage Italic" panose="03070502040507070304" pitchFamily="66" charset="0"/>
              </a:rPr>
              <a:t>By- Gautam Kumar</a:t>
            </a:r>
            <a:endParaRPr lang="en-IN" sz="4400" dirty="0">
              <a:solidFill>
                <a:srgbClr val="192D9D"/>
              </a:solidFill>
              <a:latin typeface="Rage Italic" panose="03070502040507070304" pitchFamily="66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0F020A-C912-8B58-6AE2-5F023A8717C6}"/>
              </a:ext>
            </a:extLst>
          </p:cNvPr>
          <p:cNvSpPr txBox="1"/>
          <p:nvPr/>
        </p:nvSpPr>
        <p:spPr>
          <a:xfrm>
            <a:off x="317571" y="3221065"/>
            <a:ext cx="8074589" cy="935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600"/>
              </a:lnSpc>
            </a:pPr>
            <a:r>
              <a:rPr lang="en-US" sz="9600" b="1" dirty="0">
                <a:solidFill>
                  <a:schemeClr val="accent1"/>
                </a:solidFill>
                <a:latin typeface="Bahnschrift SemiBold SemiConden" panose="020B0502040204020203" pitchFamily="34" charset="0"/>
              </a:rPr>
              <a:t>Types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A61847B-E96B-CED8-514F-445DBD3144CF}"/>
              </a:ext>
            </a:extLst>
          </p:cNvPr>
          <p:cNvSpPr/>
          <p:nvPr/>
        </p:nvSpPr>
        <p:spPr>
          <a:xfrm>
            <a:off x="9548381" y="271080"/>
            <a:ext cx="2004009" cy="200400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A8284A4-60BA-E165-E4D2-D00DDAEBBC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2869" y="654648"/>
            <a:ext cx="456394" cy="76460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591D2A6-D6A2-B66C-A665-5EA984E1C421}"/>
              </a:ext>
            </a:extLst>
          </p:cNvPr>
          <p:cNvSpPr txBox="1"/>
          <p:nvPr/>
        </p:nvSpPr>
        <p:spPr>
          <a:xfrm>
            <a:off x="9837690" y="1387116"/>
            <a:ext cx="14253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rgbClr val="192D9D"/>
                </a:solidFill>
              </a:rPr>
              <a:t>uidhtml</a:t>
            </a:r>
            <a:endParaRPr lang="en-IN" sz="2800" dirty="0">
              <a:solidFill>
                <a:srgbClr val="192D9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6184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3A813-3C85-DCCC-2561-48582DCD6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C98B01B-2745-1890-7E34-36C2584D1BC5}"/>
              </a:ext>
            </a:extLst>
          </p:cNvPr>
          <p:cNvSpPr/>
          <p:nvPr/>
        </p:nvSpPr>
        <p:spPr>
          <a:xfrm>
            <a:off x="0" y="1211516"/>
            <a:ext cx="9038598" cy="51638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48E9FD-5E37-6D3E-1356-574B2C6106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519142"/>
            <a:ext cx="3720548" cy="438771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Types – chapter 6</a:t>
            </a: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1026" name="Picture 2" descr="Typescript - Free logo icons">
            <a:extLst>
              <a:ext uri="{FF2B5EF4-FFF2-40B4-BE49-F238E27FC236}">
                <a16:creationId xmlns:a16="http://schemas.microsoft.com/office/drawing/2014/main" id="{DDBBD34A-D013-D911-C9E5-7A719B133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14" y="268224"/>
            <a:ext cx="767777" cy="76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048466-F860-A3F0-9596-441DC5981AAD}"/>
              </a:ext>
            </a:extLst>
          </p:cNvPr>
          <p:cNvSpPr txBox="1"/>
          <p:nvPr/>
        </p:nvSpPr>
        <p:spPr>
          <a:xfrm>
            <a:off x="1013791" y="482602"/>
            <a:ext cx="4993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37DA"/>
                </a:solidFill>
                <a:latin typeface="Segoe UI Variable Text Semibold" pitchFamily="2" charset="0"/>
              </a:rPr>
              <a:t>TypeScript</a:t>
            </a:r>
            <a:endParaRPr lang="en-IN" sz="3600" b="1" dirty="0">
              <a:latin typeface="Bahnschrift SemiBold SemiConden" panose="020B0502040204020203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64B6DEA-8712-CF0E-E7D1-A089B22F8C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86" y="1343311"/>
            <a:ext cx="8487868" cy="48845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DAF22B-DC0F-38F3-1468-2F9CF4258C1C}"/>
              </a:ext>
            </a:extLst>
          </p:cNvPr>
          <p:cNvSpPr txBox="1"/>
          <p:nvPr/>
        </p:nvSpPr>
        <p:spPr>
          <a:xfrm>
            <a:off x="11267059" y="2936884"/>
            <a:ext cx="748923" cy="1286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9300"/>
              </a:lnSpc>
            </a:pPr>
            <a:r>
              <a:rPr lang="en-US" sz="96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3</a:t>
            </a:r>
            <a:endParaRPr lang="en-IN" sz="96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AA5AC7-7BDE-5EDC-E65D-A74797CBBD54}"/>
              </a:ext>
            </a:extLst>
          </p:cNvPr>
          <p:cNvSpPr txBox="1"/>
          <p:nvPr/>
        </p:nvSpPr>
        <p:spPr>
          <a:xfrm>
            <a:off x="9283161" y="3009148"/>
            <a:ext cx="20794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Chapter</a:t>
            </a:r>
            <a:endParaRPr lang="en-IN" sz="4800" dirty="0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410264D-FCBB-776F-B984-6E2D1C94E936}"/>
              </a:ext>
            </a:extLst>
          </p:cNvPr>
          <p:cNvSpPr/>
          <p:nvPr/>
        </p:nvSpPr>
        <p:spPr>
          <a:xfrm>
            <a:off x="9548381" y="271080"/>
            <a:ext cx="2004009" cy="200400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900990-90AC-D529-B829-EA62AE5F10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2869" y="654648"/>
            <a:ext cx="456394" cy="76460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AA59F92-F751-211B-7DA8-C56EE61188DF}"/>
              </a:ext>
            </a:extLst>
          </p:cNvPr>
          <p:cNvSpPr txBox="1"/>
          <p:nvPr/>
        </p:nvSpPr>
        <p:spPr>
          <a:xfrm>
            <a:off x="9837690" y="1387116"/>
            <a:ext cx="14253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rgbClr val="192D9D"/>
                </a:solidFill>
              </a:rPr>
              <a:t>uidhtml</a:t>
            </a:r>
            <a:endParaRPr lang="en-IN" sz="2800" dirty="0">
              <a:solidFill>
                <a:srgbClr val="192D9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0698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0D967-AE90-9D09-7F32-98B9A9200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16CC8FD-BAEA-5169-D540-92A3D385EF69}"/>
              </a:ext>
            </a:extLst>
          </p:cNvPr>
          <p:cNvSpPr/>
          <p:nvPr/>
        </p:nvSpPr>
        <p:spPr>
          <a:xfrm>
            <a:off x="6537" y="1802265"/>
            <a:ext cx="9038598" cy="30943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7CE631-B37E-51C1-CBEF-1ADD44FE23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519142"/>
            <a:ext cx="3720548" cy="438771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Types – chapter 6</a:t>
            </a: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1026" name="Picture 2" descr="Typescript - Free logo icons">
            <a:extLst>
              <a:ext uri="{FF2B5EF4-FFF2-40B4-BE49-F238E27FC236}">
                <a16:creationId xmlns:a16="http://schemas.microsoft.com/office/drawing/2014/main" id="{841212B4-B32C-F07C-475C-A4364B10E2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14" y="268224"/>
            <a:ext cx="767777" cy="76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6E6EE4-0E96-F2B0-6DD6-E2AC3545B47E}"/>
              </a:ext>
            </a:extLst>
          </p:cNvPr>
          <p:cNvSpPr txBox="1"/>
          <p:nvPr/>
        </p:nvSpPr>
        <p:spPr>
          <a:xfrm>
            <a:off x="1013791" y="482602"/>
            <a:ext cx="4993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37DA"/>
                </a:solidFill>
                <a:latin typeface="Segoe UI Variable Text Semibold" pitchFamily="2" charset="0"/>
              </a:rPr>
              <a:t>TypeScript</a:t>
            </a:r>
            <a:endParaRPr lang="en-IN" sz="3600" b="1" dirty="0">
              <a:latin typeface="Bahnschrift SemiBold SemiConden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31C19B-6CB2-565C-3388-48EC0D5FF2F9}"/>
              </a:ext>
            </a:extLst>
          </p:cNvPr>
          <p:cNvSpPr txBox="1"/>
          <p:nvPr/>
        </p:nvSpPr>
        <p:spPr>
          <a:xfrm>
            <a:off x="11267059" y="2936884"/>
            <a:ext cx="748923" cy="1286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9300"/>
              </a:lnSpc>
            </a:pPr>
            <a:r>
              <a:rPr lang="en-US" sz="96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3</a:t>
            </a:r>
            <a:endParaRPr lang="en-IN" sz="96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A63990-C216-E152-1501-0C3859E891DE}"/>
              </a:ext>
            </a:extLst>
          </p:cNvPr>
          <p:cNvSpPr txBox="1"/>
          <p:nvPr/>
        </p:nvSpPr>
        <p:spPr>
          <a:xfrm>
            <a:off x="9283161" y="3009148"/>
            <a:ext cx="20794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Chapter</a:t>
            </a:r>
            <a:endParaRPr lang="en-IN" sz="48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CAD468-8B5D-4E94-4281-B8E8793FFB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015" y="2068807"/>
            <a:ext cx="7302866" cy="2574269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3F11D718-FFAF-9AD2-C3BF-EF1787DEC235}"/>
              </a:ext>
            </a:extLst>
          </p:cNvPr>
          <p:cNvSpPr/>
          <p:nvPr/>
        </p:nvSpPr>
        <p:spPr>
          <a:xfrm>
            <a:off x="9548381" y="271080"/>
            <a:ext cx="2004009" cy="200400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17864A7-3BD8-1503-6ABA-4035F16AE9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2869" y="654648"/>
            <a:ext cx="456394" cy="76460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D1D9A0F-E90D-FD8C-343B-F70F24B535D0}"/>
              </a:ext>
            </a:extLst>
          </p:cNvPr>
          <p:cNvSpPr txBox="1"/>
          <p:nvPr/>
        </p:nvSpPr>
        <p:spPr>
          <a:xfrm>
            <a:off x="9837690" y="1387116"/>
            <a:ext cx="14253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rgbClr val="192D9D"/>
                </a:solidFill>
              </a:rPr>
              <a:t>uidhtml</a:t>
            </a:r>
            <a:endParaRPr lang="en-IN" sz="2800" dirty="0">
              <a:solidFill>
                <a:srgbClr val="192D9D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81547E-9C77-4400-0BC9-44982478DB21}"/>
              </a:ext>
            </a:extLst>
          </p:cNvPr>
          <p:cNvSpPr txBox="1"/>
          <p:nvPr/>
        </p:nvSpPr>
        <p:spPr>
          <a:xfrm>
            <a:off x="393669" y="4896600"/>
            <a:ext cx="114046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0037DA"/>
                </a:solidFill>
                <a:latin typeface="Aptos Display" panose="020B0004020202020204" pitchFamily="34" charset="0"/>
              </a:rPr>
              <a:t>Hit like👍, Share ➤ and Subscribe 🔔</a:t>
            </a:r>
            <a:endParaRPr lang="en-IN" sz="5400" b="1" dirty="0">
              <a:solidFill>
                <a:srgbClr val="0037DA"/>
              </a:solidFill>
              <a:latin typeface="Aptos Display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8D8B20-E6A4-F20A-A3F0-1716CC6C9399}"/>
              </a:ext>
            </a:extLst>
          </p:cNvPr>
          <p:cNvSpPr txBox="1"/>
          <p:nvPr/>
        </p:nvSpPr>
        <p:spPr>
          <a:xfrm>
            <a:off x="7548881" y="5817479"/>
            <a:ext cx="430278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192D9D"/>
                </a:solidFill>
                <a:latin typeface="Rage Italic" panose="03070502040507070304" pitchFamily="66" charset="0"/>
              </a:rPr>
              <a:t>By- Gautam Kumar</a:t>
            </a:r>
            <a:endParaRPr lang="en-IN" sz="4400" dirty="0">
              <a:solidFill>
                <a:srgbClr val="192D9D"/>
              </a:solidFill>
              <a:latin typeface="Rage Italic" panose="03070502040507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1815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C7703-6662-81AD-8D85-4069DB203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7139E-CAE9-5879-80B6-B1DC5180FC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519142"/>
            <a:ext cx="3720548" cy="438771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Types – chapter 7</a:t>
            </a: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1026" name="Picture 2" descr="Typescript - Free logo icons">
            <a:extLst>
              <a:ext uri="{FF2B5EF4-FFF2-40B4-BE49-F238E27FC236}">
                <a16:creationId xmlns:a16="http://schemas.microsoft.com/office/drawing/2014/main" id="{75AF52CC-4CF2-235B-6012-5FA66C81C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46" y="437322"/>
            <a:ext cx="2004009" cy="2004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A87F95-5157-5FDB-469A-E3E0C6BA5857}"/>
              </a:ext>
            </a:extLst>
          </p:cNvPr>
          <p:cNvSpPr txBox="1"/>
          <p:nvPr/>
        </p:nvSpPr>
        <p:spPr>
          <a:xfrm>
            <a:off x="2224655" y="1117892"/>
            <a:ext cx="57526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rgbClr val="0037DA"/>
                </a:solidFill>
                <a:latin typeface="Arial Rounded MT Bold" panose="020F0704030504030204" pitchFamily="34" charset="0"/>
              </a:rPr>
              <a:t>TypeScript</a:t>
            </a:r>
            <a:endParaRPr lang="en-IN" sz="8000" b="1" dirty="0">
              <a:latin typeface="Arial Rounded MT Bold" panose="020F07040305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61821A-2D6A-F368-0165-8384E0891EDE}"/>
              </a:ext>
            </a:extLst>
          </p:cNvPr>
          <p:cNvSpPr txBox="1"/>
          <p:nvPr/>
        </p:nvSpPr>
        <p:spPr>
          <a:xfrm>
            <a:off x="11267059" y="2936884"/>
            <a:ext cx="755335" cy="1286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9300"/>
              </a:lnSpc>
            </a:pPr>
            <a:r>
              <a:rPr lang="en-US" sz="96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3</a:t>
            </a:r>
            <a:endParaRPr lang="en-IN" sz="9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939705-70B6-C44E-CE54-6D3856ED6C0B}"/>
              </a:ext>
            </a:extLst>
          </p:cNvPr>
          <p:cNvSpPr txBox="1"/>
          <p:nvPr/>
        </p:nvSpPr>
        <p:spPr>
          <a:xfrm>
            <a:off x="300158" y="2929300"/>
            <a:ext cx="86748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EBA415"/>
                </a:solidFill>
                <a:latin typeface="Aptos" panose="020B0004020202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Examples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0959AC7-4283-1E40-062E-DFEFDD5C0D11}"/>
              </a:ext>
            </a:extLst>
          </p:cNvPr>
          <p:cNvSpPr/>
          <p:nvPr/>
        </p:nvSpPr>
        <p:spPr>
          <a:xfrm>
            <a:off x="9548381" y="271080"/>
            <a:ext cx="2004009" cy="200400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B34EB8-9E06-80FF-5B3C-993F8CD628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2869" y="654648"/>
            <a:ext cx="456394" cy="7646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A6BA88-AB87-A87D-66AF-ABD1A4E609D7}"/>
              </a:ext>
            </a:extLst>
          </p:cNvPr>
          <p:cNvSpPr txBox="1"/>
          <p:nvPr/>
        </p:nvSpPr>
        <p:spPr>
          <a:xfrm>
            <a:off x="9837690" y="1387116"/>
            <a:ext cx="14253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rgbClr val="192D9D"/>
                </a:solidFill>
              </a:rPr>
              <a:t>uidhtml</a:t>
            </a:r>
            <a:endParaRPr lang="en-IN" sz="2800" dirty="0">
              <a:solidFill>
                <a:srgbClr val="192D9D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F2E583-5103-C3B0-CCE1-1AF605A0E802}"/>
              </a:ext>
            </a:extLst>
          </p:cNvPr>
          <p:cNvSpPr txBox="1"/>
          <p:nvPr/>
        </p:nvSpPr>
        <p:spPr>
          <a:xfrm>
            <a:off x="9283161" y="3009148"/>
            <a:ext cx="20794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Chapter</a:t>
            </a:r>
            <a:endParaRPr lang="en-IN" sz="48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5E977A-15E8-B83F-126F-C6D129F59F82}"/>
              </a:ext>
            </a:extLst>
          </p:cNvPr>
          <p:cNvSpPr txBox="1"/>
          <p:nvPr/>
        </p:nvSpPr>
        <p:spPr>
          <a:xfrm>
            <a:off x="393669" y="4558414"/>
            <a:ext cx="114046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0037DA"/>
                </a:solidFill>
                <a:latin typeface="Aptos Display" panose="020B0004020202020204" pitchFamily="34" charset="0"/>
              </a:rPr>
              <a:t>Hit like👍, Share ➤ and Subscribe 🔔</a:t>
            </a:r>
            <a:endParaRPr lang="en-IN" sz="5400" b="1" dirty="0">
              <a:solidFill>
                <a:srgbClr val="0037DA"/>
              </a:solidFill>
              <a:latin typeface="Aptos Display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DA61B1-F6B1-3603-7C2B-15C17E769290}"/>
              </a:ext>
            </a:extLst>
          </p:cNvPr>
          <p:cNvSpPr txBox="1"/>
          <p:nvPr/>
        </p:nvSpPr>
        <p:spPr>
          <a:xfrm>
            <a:off x="7686299" y="5815292"/>
            <a:ext cx="430278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192D9D"/>
                </a:solidFill>
                <a:latin typeface="Rage Italic" panose="03070502040507070304" pitchFamily="66" charset="0"/>
              </a:rPr>
              <a:t>By- Gautam Kumar</a:t>
            </a:r>
            <a:endParaRPr lang="en-IN" sz="4400" dirty="0">
              <a:solidFill>
                <a:srgbClr val="192D9D"/>
              </a:solidFill>
              <a:latin typeface="Rage Italic" panose="03070502040507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0659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C376B-C037-C522-269C-C79505576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DD86-B563-D3D8-3061-DB566CA8FB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519142"/>
            <a:ext cx="3720548" cy="438771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Types – chapter 7</a:t>
            </a: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1026" name="Picture 2" descr="Typescript - Free logo icons">
            <a:extLst>
              <a:ext uri="{FF2B5EF4-FFF2-40B4-BE49-F238E27FC236}">
                <a16:creationId xmlns:a16="http://schemas.microsoft.com/office/drawing/2014/main" id="{C16C9CBC-1560-7CFD-93EC-FFBB5815B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46" y="437322"/>
            <a:ext cx="2004009" cy="2004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510A2C-3088-B615-CF01-CC1AB57E9DC4}"/>
              </a:ext>
            </a:extLst>
          </p:cNvPr>
          <p:cNvSpPr txBox="1"/>
          <p:nvPr/>
        </p:nvSpPr>
        <p:spPr>
          <a:xfrm>
            <a:off x="2224655" y="1117892"/>
            <a:ext cx="57526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rgbClr val="0037DA"/>
                </a:solidFill>
                <a:latin typeface="Arial Rounded MT Bold" panose="020F0704030504030204" pitchFamily="34" charset="0"/>
              </a:rPr>
              <a:t>TypeScript</a:t>
            </a:r>
            <a:endParaRPr lang="en-IN" sz="8000" b="1" dirty="0">
              <a:latin typeface="Arial Rounded MT Bold" panose="020F07040305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22A846-CDDA-D56D-7046-8AB7435978C1}"/>
              </a:ext>
            </a:extLst>
          </p:cNvPr>
          <p:cNvSpPr txBox="1"/>
          <p:nvPr/>
        </p:nvSpPr>
        <p:spPr>
          <a:xfrm>
            <a:off x="11267059" y="2936884"/>
            <a:ext cx="755335" cy="1286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9300"/>
              </a:lnSpc>
            </a:pPr>
            <a:r>
              <a:rPr lang="en-US" sz="96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3</a:t>
            </a:r>
            <a:endParaRPr lang="en-IN" sz="9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7C84FF-EB17-14B1-18FA-E0CDEA69E159}"/>
              </a:ext>
            </a:extLst>
          </p:cNvPr>
          <p:cNvSpPr txBox="1"/>
          <p:nvPr/>
        </p:nvSpPr>
        <p:spPr>
          <a:xfrm>
            <a:off x="300158" y="2929300"/>
            <a:ext cx="86748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EBA415"/>
                </a:solidFill>
                <a:latin typeface="Aptos" panose="020B0004020202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How &amp; where to annotate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BA6DBE2-E46C-9A86-6BF4-4C5D92932A9E}"/>
              </a:ext>
            </a:extLst>
          </p:cNvPr>
          <p:cNvSpPr/>
          <p:nvPr/>
        </p:nvSpPr>
        <p:spPr>
          <a:xfrm>
            <a:off x="9548381" y="271080"/>
            <a:ext cx="2004009" cy="200400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D14386-F2C5-DD00-82E4-1EC844DDCF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2869" y="654648"/>
            <a:ext cx="456394" cy="7646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396B001-E80C-C3A4-8EB6-CE82EED57516}"/>
              </a:ext>
            </a:extLst>
          </p:cNvPr>
          <p:cNvSpPr txBox="1"/>
          <p:nvPr/>
        </p:nvSpPr>
        <p:spPr>
          <a:xfrm>
            <a:off x="9837690" y="1387116"/>
            <a:ext cx="14253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rgbClr val="192D9D"/>
                </a:solidFill>
              </a:rPr>
              <a:t>uidhtml</a:t>
            </a:r>
            <a:endParaRPr lang="en-IN" sz="2800" dirty="0">
              <a:solidFill>
                <a:srgbClr val="192D9D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353E1B-296D-477E-53F7-7C81F0423544}"/>
              </a:ext>
            </a:extLst>
          </p:cNvPr>
          <p:cNvSpPr txBox="1"/>
          <p:nvPr/>
        </p:nvSpPr>
        <p:spPr>
          <a:xfrm>
            <a:off x="9283161" y="3009148"/>
            <a:ext cx="20794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Chapter</a:t>
            </a:r>
            <a:endParaRPr lang="en-IN" sz="48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082D3C-A3B2-9CA9-C4FA-BA8346DDD3C2}"/>
              </a:ext>
            </a:extLst>
          </p:cNvPr>
          <p:cNvSpPr txBox="1"/>
          <p:nvPr/>
        </p:nvSpPr>
        <p:spPr>
          <a:xfrm>
            <a:off x="393669" y="4558414"/>
            <a:ext cx="114046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0037DA"/>
                </a:solidFill>
                <a:latin typeface="Aptos Display" panose="020B0004020202020204" pitchFamily="34" charset="0"/>
              </a:rPr>
              <a:t>Hit like👍, Share ➤ and Subscribe 🔔</a:t>
            </a:r>
            <a:endParaRPr lang="en-IN" sz="5400" b="1" dirty="0">
              <a:solidFill>
                <a:srgbClr val="0037DA"/>
              </a:solidFill>
              <a:latin typeface="Aptos Display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23C994-DA08-C911-4EE6-73985CD555A2}"/>
              </a:ext>
            </a:extLst>
          </p:cNvPr>
          <p:cNvSpPr txBox="1"/>
          <p:nvPr/>
        </p:nvSpPr>
        <p:spPr>
          <a:xfrm>
            <a:off x="7686299" y="5815292"/>
            <a:ext cx="430278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192D9D"/>
                </a:solidFill>
                <a:latin typeface="Rage Italic" panose="03070502040507070304" pitchFamily="66" charset="0"/>
              </a:rPr>
              <a:t>By- Gautam Kumar</a:t>
            </a:r>
            <a:endParaRPr lang="en-IN" sz="4400" dirty="0">
              <a:solidFill>
                <a:srgbClr val="192D9D"/>
              </a:solidFill>
              <a:latin typeface="Rage Italic" panose="03070502040507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7221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90337-1601-E21D-B237-2FB9F30B4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AAA4A-726F-E808-90A9-D44FC7C1F0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519142"/>
            <a:ext cx="3720548" cy="438771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Types – chapter 7</a:t>
            </a: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1026" name="Picture 2" descr="Typescript - Free logo icons">
            <a:extLst>
              <a:ext uri="{FF2B5EF4-FFF2-40B4-BE49-F238E27FC236}">
                <a16:creationId xmlns:a16="http://schemas.microsoft.com/office/drawing/2014/main" id="{11E8F7C2-94A8-A4CA-8E28-2E756AA2B7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46" y="437322"/>
            <a:ext cx="2004009" cy="2004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7B9843E-24A0-D1AA-0998-7503F3F83D4D}"/>
              </a:ext>
            </a:extLst>
          </p:cNvPr>
          <p:cNvSpPr txBox="1"/>
          <p:nvPr/>
        </p:nvSpPr>
        <p:spPr>
          <a:xfrm>
            <a:off x="2224655" y="1117892"/>
            <a:ext cx="57526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rgbClr val="0037DA"/>
                </a:solidFill>
                <a:latin typeface="Arial Rounded MT Bold" panose="020F0704030504030204" pitchFamily="34" charset="0"/>
              </a:rPr>
              <a:t>TypeScript</a:t>
            </a:r>
            <a:endParaRPr lang="en-IN" sz="8000" b="1" dirty="0">
              <a:latin typeface="Arial Rounded MT Bold" panose="020F07040305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2D11A0-E0F3-97E1-2C5C-AF52842DF8ED}"/>
              </a:ext>
            </a:extLst>
          </p:cNvPr>
          <p:cNvSpPr txBox="1"/>
          <p:nvPr/>
        </p:nvSpPr>
        <p:spPr>
          <a:xfrm>
            <a:off x="11267059" y="2936884"/>
            <a:ext cx="800219" cy="1286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9300"/>
              </a:lnSpc>
            </a:pPr>
            <a:r>
              <a:rPr lang="en-US" sz="96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4</a:t>
            </a:r>
            <a:endParaRPr lang="en-IN" sz="9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D28170-F84F-FF53-9B16-A41BEF4D1883}"/>
              </a:ext>
            </a:extLst>
          </p:cNvPr>
          <p:cNvSpPr txBox="1"/>
          <p:nvPr/>
        </p:nvSpPr>
        <p:spPr>
          <a:xfrm>
            <a:off x="300158" y="2854887"/>
            <a:ext cx="86748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rgbClr val="EBA415"/>
                </a:solidFill>
                <a:latin typeface="Aptos" panose="020B0004020202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primitive annotation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125DB3A-0310-708F-4533-3CC2541198A6}"/>
              </a:ext>
            </a:extLst>
          </p:cNvPr>
          <p:cNvSpPr/>
          <p:nvPr/>
        </p:nvSpPr>
        <p:spPr>
          <a:xfrm>
            <a:off x="9548381" y="271080"/>
            <a:ext cx="2004009" cy="200400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7A4D61-3D32-0454-FE15-F9B0E4B9E2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2869" y="654648"/>
            <a:ext cx="456394" cy="7646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21BFCA3-CBB6-4258-8E26-CFFF44B6C630}"/>
              </a:ext>
            </a:extLst>
          </p:cNvPr>
          <p:cNvSpPr txBox="1"/>
          <p:nvPr/>
        </p:nvSpPr>
        <p:spPr>
          <a:xfrm>
            <a:off x="9837690" y="1387116"/>
            <a:ext cx="14253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rgbClr val="192D9D"/>
                </a:solidFill>
              </a:rPr>
              <a:t>uidhtml</a:t>
            </a:r>
            <a:endParaRPr lang="en-IN" sz="2800" dirty="0">
              <a:solidFill>
                <a:srgbClr val="192D9D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74D9D0-AD9E-56D0-EE5B-6FE2395A0C62}"/>
              </a:ext>
            </a:extLst>
          </p:cNvPr>
          <p:cNvSpPr txBox="1"/>
          <p:nvPr/>
        </p:nvSpPr>
        <p:spPr>
          <a:xfrm>
            <a:off x="9283161" y="3009148"/>
            <a:ext cx="20794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Chapter</a:t>
            </a:r>
            <a:endParaRPr lang="en-IN" sz="48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94BBA3-2962-5A65-BB70-F559A4A3F056}"/>
              </a:ext>
            </a:extLst>
          </p:cNvPr>
          <p:cNvSpPr txBox="1"/>
          <p:nvPr/>
        </p:nvSpPr>
        <p:spPr>
          <a:xfrm>
            <a:off x="393669" y="4558414"/>
            <a:ext cx="114046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0037DA"/>
                </a:solidFill>
                <a:latin typeface="Aptos Display" panose="020B0004020202020204" pitchFamily="34" charset="0"/>
              </a:rPr>
              <a:t>Hit like👍, Share ➤ and Subscribe 🔔</a:t>
            </a:r>
            <a:endParaRPr lang="en-IN" sz="5400" b="1" dirty="0">
              <a:solidFill>
                <a:srgbClr val="0037DA"/>
              </a:solidFill>
              <a:latin typeface="Aptos Display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C1A5FC-8E4F-BAE7-EB1A-E360C3803874}"/>
              </a:ext>
            </a:extLst>
          </p:cNvPr>
          <p:cNvSpPr txBox="1"/>
          <p:nvPr/>
        </p:nvSpPr>
        <p:spPr>
          <a:xfrm>
            <a:off x="7686299" y="5815292"/>
            <a:ext cx="430278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192D9D"/>
                </a:solidFill>
                <a:latin typeface="Rage Italic" panose="03070502040507070304" pitchFamily="66" charset="0"/>
              </a:rPr>
              <a:t>By- Gautam Kumar</a:t>
            </a:r>
            <a:endParaRPr lang="en-IN" sz="4400" dirty="0">
              <a:solidFill>
                <a:srgbClr val="192D9D"/>
              </a:solidFill>
              <a:latin typeface="Rage Italic" panose="03070502040507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5866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5C79-A53D-CEFA-1BEF-F2DBB19DE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45C42-F55C-803C-53E5-E0D330F138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519142"/>
            <a:ext cx="3720548" cy="438771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Types – chapter 7</a:t>
            </a: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1026" name="Picture 2" descr="Typescript - Free logo icons">
            <a:extLst>
              <a:ext uri="{FF2B5EF4-FFF2-40B4-BE49-F238E27FC236}">
                <a16:creationId xmlns:a16="http://schemas.microsoft.com/office/drawing/2014/main" id="{02B49EDD-287C-5F17-7529-B6B2EE5DE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46" y="437322"/>
            <a:ext cx="2004009" cy="2004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B135D2-3CD7-918F-61D3-ED9408B6A788}"/>
              </a:ext>
            </a:extLst>
          </p:cNvPr>
          <p:cNvSpPr txBox="1"/>
          <p:nvPr/>
        </p:nvSpPr>
        <p:spPr>
          <a:xfrm>
            <a:off x="2224655" y="1117892"/>
            <a:ext cx="57526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rgbClr val="0037DA"/>
                </a:solidFill>
                <a:latin typeface="Arial Rounded MT Bold" panose="020F0704030504030204" pitchFamily="34" charset="0"/>
              </a:rPr>
              <a:t>TypeScript</a:t>
            </a:r>
            <a:endParaRPr lang="en-IN" sz="8000" b="1" dirty="0">
              <a:latin typeface="Arial Rounded MT Bold" panose="020F07040305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229DC1-CECC-E3ED-502E-5B27397F98A5}"/>
              </a:ext>
            </a:extLst>
          </p:cNvPr>
          <p:cNvSpPr txBox="1"/>
          <p:nvPr/>
        </p:nvSpPr>
        <p:spPr>
          <a:xfrm>
            <a:off x="11267059" y="2936884"/>
            <a:ext cx="771365" cy="1286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9300"/>
              </a:lnSpc>
            </a:pPr>
            <a:r>
              <a:rPr lang="en-US" sz="96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5</a:t>
            </a:r>
            <a:endParaRPr lang="en-IN" sz="9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374938-EC56-9758-5F72-7BDD1CE24B7A}"/>
              </a:ext>
            </a:extLst>
          </p:cNvPr>
          <p:cNvSpPr txBox="1"/>
          <p:nvPr/>
        </p:nvSpPr>
        <p:spPr>
          <a:xfrm>
            <a:off x="300158" y="2854887"/>
            <a:ext cx="86748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rgbClr val="EBA415"/>
                </a:solidFill>
                <a:latin typeface="Aptos" panose="020B0004020202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Object annotation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65BA64-1032-0CE3-F4B5-94CF51B1E33F}"/>
              </a:ext>
            </a:extLst>
          </p:cNvPr>
          <p:cNvSpPr txBox="1"/>
          <p:nvPr/>
        </p:nvSpPr>
        <p:spPr>
          <a:xfrm>
            <a:off x="9283161" y="3009148"/>
            <a:ext cx="20794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Chapter</a:t>
            </a:r>
            <a:endParaRPr lang="en-IN" sz="48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77B922-86E4-54B3-8E02-E99990148394}"/>
              </a:ext>
            </a:extLst>
          </p:cNvPr>
          <p:cNvSpPr txBox="1"/>
          <p:nvPr/>
        </p:nvSpPr>
        <p:spPr>
          <a:xfrm>
            <a:off x="393669" y="4558414"/>
            <a:ext cx="114046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0037DA"/>
                </a:solidFill>
                <a:latin typeface="Aptos Display" panose="020B0004020202020204" pitchFamily="34" charset="0"/>
              </a:rPr>
              <a:t>Hit like👍, Share ➤ and Subscribe 🔔</a:t>
            </a:r>
            <a:endParaRPr lang="en-IN" sz="5400" b="1" dirty="0">
              <a:solidFill>
                <a:srgbClr val="0037DA"/>
              </a:solidFill>
              <a:latin typeface="Aptos Display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6C1380-9B9A-8BF2-9C52-FB203FEEC4E1}"/>
              </a:ext>
            </a:extLst>
          </p:cNvPr>
          <p:cNvSpPr txBox="1"/>
          <p:nvPr/>
        </p:nvSpPr>
        <p:spPr>
          <a:xfrm>
            <a:off x="7686299" y="5815292"/>
            <a:ext cx="430278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192D9D"/>
                </a:solidFill>
                <a:latin typeface="Rage Italic" panose="03070502040507070304" pitchFamily="66" charset="0"/>
              </a:rPr>
              <a:t>By- Gautam Kumar</a:t>
            </a:r>
            <a:endParaRPr lang="en-IN" sz="4400" dirty="0">
              <a:solidFill>
                <a:srgbClr val="192D9D"/>
              </a:solidFill>
              <a:latin typeface="Rage Italic" panose="03070502040507070304" pitchFamily="66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9E087A5-7654-75F6-D429-A6DCCC745A41}"/>
              </a:ext>
            </a:extLst>
          </p:cNvPr>
          <p:cNvSpPr/>
          <p:nvPr/>
        </p:nvSpPr>
        <p:spPr>
          <a:xfrm>
            <a:off x="9548381" y="271080"/>
            <a:ext cx="2004009" cy="200400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025AAD9-C8BE-216F-5024-9338952A48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2869" y="654648"/>
            <a:ext cx="456394" cy="76460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751EBDF-8A4C-4334-5BD7-4081227DD5E4}"/>
              </a:ext>
            </a:extLst>
          </p:cNvPr>
          <p:cNvSpPr txBox="1"/>
          <p:nvPr/>
        </p:nvSpPr>
        <p:spPr>
          <a:xfrm>
            <a:off x="9837690" y="1387116"/>
            <a:ext cx="14253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rgbClr val="192D9D"/>
                </a:solidFill>
              </a:rPr>
              <a:t>uidhtml</a:t>
            </a:r>
            <a:endParaRPr lang="en-IN" sz="2800" dirty="0">
              <a:solidFill>
                <a:srgbClr val="192D9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136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1D895-4375-2EE6-A12F-20F69276C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CB825-337A-B4E1-602C-953C9EEF81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519142"/>
            <a:ext cx="3720548" cy="438771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Types – chapter 7</a:t>
            </a: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1026" name="Picture 2" descr="Typescript - Free logo icons">
            <a:extLst>
              <a:ext uri="{FF2B5EF4-FFF2-40B4-BE49-F238E27FC236}">
                <a16:creationId xmlns:a16="http://schemas.microsoft.com/office/drawing/2014/main" id="{EBC9B60E-AD77-52E5-BEF3-12296B069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46" y="437322"/>
            <a:ext cx="2004009" cy="2004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52F5B5-D4BD-42D9-DD9D-143AFDF2F087}"/>
              </a:ext>
            </a:extLst>
          </p:cNvPr>
          <p:cNvSpPr txBox="1"/>
          <p:nvPr/>
        </p:nvSpPr>
        <p:spPr>
          <a:xfrm>
            <a:off x="2224655" y="1117892"/>
            <a:ext cx="57526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rgbClr val="0037DA"/>
                </a:solidFill>
                <a:latin typeface="Arial Rounded MT Bold" panose="020F0704030504030204" pitchFamily="34" charset="0"/>
              </a:rPr>
              <a:t>TypeScript</a:t>
            </a:r>
            <a:endParaRPr lang="en-IN" sz="8000" b="1" dirty="0">
              <a:latin typeface="Arial Rounded MT Bold" panose="020F07040305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9A4365-DBA9-9B76-7EF6-047C07B32566}"/>
              </a:ext>
            </a:extLst>
          </p:cNvPr>
          <p:cNvSpPr txBox="1"/>
          <p:nvPr/>
        </p:nvSpPr>
        <p:spPr>
          <a:xfrm>
            <a:off x="11267059" y="2936884"/>
            <a:ext cx="737702" cy="1286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9300"/>
              </a:lnSpc>
            </a:pPr>
            <a:r>
              <a:rPr lang="en-US" sz="96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6</a:t>
            </a:r>
            <a:endParaRPr lang="en-IN" sz="9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C5369D-7EE5-9906-72E5-CCA6D4555DC5}"/>
              </a:ext>
            </a:extLst>
          </p:cNvPr>
          <p:cNvSpPr txBox="1"/>
          <p:nvPr/>
        </p:nvSpPr>
        <p:spPr>
          <a:xfrm>
            <a:off x="300158" y="2854887"/>
            <a:ext cx="86748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rgbClr val="EBA415"/>
                </a:solidFill>
                <a:latin typeface="Aptos" panose="020B0004020202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function annotation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BEE85B-581A-4A40-7B94-F58CF57800F2}"/>
              </a:ext>
            </a:extLst>
          </p:cNvPr>
          <p:cNvSpPr txBox="1"/>
          <p:nvPr/>
        </p:nvSpPr>
        <p:spPr>
          <a:xfrm>
            <a:off x="9283161" y="3009148"/>
            <a:ext cx="20794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Chapter</a:t>
            </a:r>
            <a:endParaRPr lang="en-IN" sz="48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5CE401-8628-C9FB-872F-583742F4822C}"/>
              </a:ext>
            </a:extLst>
          </p:cNvPr>
          <p:cNvSpPr txBox="1"/>
          <p:nvPr/>
        </p:nvSpPr>
        <p:spPr>
          <a:xfrm>
            <a:off x="393669" y="4558414"/>
            <a:ext cx="114046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192D9D"/>
                </a:solidFill>
                <a:latin typeface="Aptos Display" panose="020B0004020202020204" pitchFamily="34" charset="0"/>
              </a:rPr>
              <a:t>Hit like👍, Share ➤ and Subscribe 🔔</a:t>
            </a:r>
            <a:endParaRPr lang="en-IN" sz="5400" b="1" dirty="0">
              <a:solidFill>
                <a:srgbClr val="192D9D"/>
              </a:solidFill>
              <a:latin typeface="Aptos Display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4CABA5-DF07-BB65-BF80-B357C1ED44BC}"/>
              </a:ext>
            </a:extLst>
          </p:cNvPr>
          <p:cNvSpPr txBox="1"/>
          <p:nvPr/>
        </p:nvSpPr>
        <p:spPr>
          <a:xfrm>
            <a:off x="7686299" y="5815292"/>
            <a:ext cx="430278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192D9D"/>
                </a:solidFill>
                <a:latin typeface="Rage Italic" panose="03070502040507070304" pitchFamily="66" charset="0"/>
              </a:rPr>
              <a:t>By- Gautam Kumar</a:t>
            </a:r>
            <a:endParaRPr lang="en-IN" sz="4400" dirty="0">
              <a:solidFill>
                <a:srgbClr val="192D9D"/>
              </a:solidFill>
              <a:latin typeface="Rage Italic" panose="03070502040507070304" pitchFamily="66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D77C27D-0F4E-D22D-AC18-F664BFB0D4AA}"/>
              </a:ext>
            </a:extLst>
          </p:cNvPr>
          <p:cNvSpPr/>
          <p:nvPr/>
        </p:nvSpPr>
        <p:spPr>
          <a:xfrm>
            <a:off x="9548381" y="271080"/>
            <a:ext cx="2004009" cy="200400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39A4381-7E51-E2A7-572E-7D905513AF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2869" y="654648"/>
            <a:ext cx="456394" cy="76460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B28AA3B-CB3F-37F7-7B64-8364E2B6FDBE}"/>
              </a:ext>
            </a:extLst>
          </p:cNvPr>
          <p:cNvSpPr txBox="1"/>
          <p:nvPr/>
        </p:nvSpPr>
        <p:spPr>
          <a:xfrm>
            <a:off x="9837690" y="1387116"/>
            <a:ext cx="14253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rgbClr val="192D9D"/>
                </a:solidFill>
              </a:rPr>
              <a:t>uidhtml</a:t>
            </a:r>
            <a:endParaRPr lang="en-IN" sz="2800" dirty="0">
              <a:solidFill>
                <a:srgbClr val="192D9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48295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905AD-F7A2-BFDE-08B0-9D6065ED8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087FA-057B-8E65-2096-695F97BAF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519142"/>
            <a:ext cx="3720548" cy="438771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Types – chapter 7</a:t>
            </a: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1026" name="Picture 2" descr="Typescript - Free logo icons">
            <a:extLst>
              <a:ext uri="{FF2B5EF4-FFF2-40B4-BE49-F238E27FC236}">
                <a16:creationId xmlns:a16="http://schemas.microsoft.com/office/drawing/2014/main" id="{FBFCDDC4-F86A-1786-E670-A8B0D2693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46" y="437322"/>
            <a:ext cx="2004009" cy="2004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D4D6D5-BFFF-E370-977E-4204B2F653BF}"/>
              </a:ext>
            </a:extLst>
          </p:cNvPr>
          <p:cNvSpPr txBox="1"/>
          <p:nvPr/>
        </p:nvSpPr>
        <p:spPr>
          <a:xfrm>
            <a:off x="2224655" y="1117892"/>
            <a:ext cx="57526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rgbClr val="0037DA"/>
                </a:solidFill>
                <a:latin typeface="Arial Rounded MT Bold" panose="020F0704030504030204" pitchFamily="34" charset="0"/>
              </a:rPr>
              <a:t>TypeScript</a:t>
            </a:r>
            <a:endParaRPr lang="en-IN" sz="8000" b="1" dirty="0">
              <a:latin typeface="Arial Rounded MT Bold" panose="020F07040305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5CB7DB-DCD4-9650-A64E-58E5F725517D}"/>
              </a:ext>
            </a:extLst>
          </p:cNvPr>
          <p:cNvSpPr txBox="1"/>
          <p:nvPr/>
        </p:nvSpPr>
        <p:spPr>
          <a:xfrm>
            <a:off x="11267059" y="2936884"/>
            <a:ext cx="729687" cy="1286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9300"/>
              </a:lnSpc>
            </a:pPr>
            <a:r>
              <a:rPr lang="en-US" sz="96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7</a:t>
            </a:r>
            <a:endParaRPr lang="en-IN" sz="9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4A4F67-221F-1BF3-DC29-8AE35ED2FC8F}"/>
              </a:ext>
            </a:extLst>
          </p:cNvPr>
          <p:cNvSpPr txBox="1"/>
          <p:nvPr/>
        </p:nvSpPr>
        <p:spPr>
          <a:xfrm>
            <a:off x="220646" y="2530485"/>
            <a:ext cx="53571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>
                <a:solidFill>
                  <a:schemeClr val="bg1">
                    <a:lumMod val="6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9600" b="1" dirty="0">
                <a:solidFill>
                  <a:srgbClr val="EBA4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:any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9B8DC6-1C0D-740A-FDA6-CCF09408D3A4}"/>
              </a:ext>
            </a:extLst>
          </p:cNvPr>
          <p:cNvSpPr txBox="1"/>
          <p:nvPr/>
        </p:nvSpPr>
        <p:spPr>
          <a:xfrm>
            <a:off x="9283161" y="3009148"/>
            <a:ext cx="20794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Chapter</a:t>
            </a:r>
            <a:endParaRPr lang="en-IN" sz="48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C71E02-87B8-7320-E840-7389AB411A77}"/>
              </a:ext>
            </a:extLst>
          </p:cNvPr>
          <p:cNvSpPr txBox="1"/>
          <p:nvPr/>
        </p:nvSpPr>
        <p:spPr>
          <a:xfrm>
            <a:off x="2956455" y="2016013"/>
            <a:ext cx="1272209" cy="2400657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5000" dirty="0">
                <a:solidFill>
                  <a:srgbClr val="C00000"/>
                </a:solidFill>
              </a:rPr>
              <a:t>x</a:t>
            </a:r>
            <a:endParaRPr lang="en-IN" sz="15000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1BA766-583C-F9D3-F44C-8F745FED0E8F}"/>
              </a:ext>
            </a:extLst>
          </p:cNvPr>
          <p:cNvSpPr txBox="1"/>
          <p:nvPr/>
        </p:nvSpPr>
        <p:spPr>
          <a:xfrm>
            <a:off x="393669" y="4558414"/>
            <a:ext cx="114046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192D9D"/>
                </a:solidFill>
                <a:latin typeface="Aptos Display" panose="020B0004020202020204" pitchFamily="34" charset="0"/>
              </a:rPr>
              <a:t>Hit like👍, Share ➤ and Subscribe 🔔</a:t>
            </a:r>
            <a:endParaRPr lang="en-IN" sz="5400" b="1" dirty="0">
              <a:solidFill>
                <a:srgbClr val="192D9D"/>
              </a:solidFill>
              <a:latin typeface="Aptos Display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6A6768-3C9B-EC4B-ECBA-8110DC381516}"/>
              </a:ext>
            </a:extLst>
          </p:cNvPr>
          <p:cNvSpPr txBox="1"/>
          <p:nvPr/>
        </p:nvSpPr>
        <p:spPr>
          <a:xfrm>
            <a:off x="7686299" y="5815292"/>
            <a:ext cx="430278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192D9D"/>
                </a:solidFill>
                <a:latin typeface="Rage Italic" panose="03070502040507070304" pitchFamily="66" charset="0"/>
              </a:rPr>
              <a:t>By- Gautam Kumar</a:t>
            </a:r>
            <a:endParaRPr lang="en-IN" sz="4400" dirty="0">
              <a:solidFill>
                <a:srgbClr val="192D9D"/>
              </a:solidFill>
              <a:latin typeface="Rage Italic" panose="03070502040507070304" pitchFamily="66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A99F705-D13A-F4D0-9F0A-60152A2BF952}"/>
              </a:ext>
            </a:extLst>
          </p:cNvPr>
          <p:cNvSpPr/>
          <p:nvPr/>
        </p:nvSpPr>
        <p:spPr>
          <a:xfrm>
            <a:off x="9548381" y="271080"/>
            <a:ext cx="2004009" cy="200400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EB7A091-60DE-8EE8-F537-98DFA07DFC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2869" y="654648"/>
            <a:ext cx="456394" cy="76460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CF884FE-721D-50DE-26FC-34DF5DF5C6B6}"/>
              </a:ext>
            </a:extLst>
          </p:cNvPr>
          <p:cNvSpPr txBox="1"/>
          <p:nvPr/>
        </p:nvSpPr>
        <p:spPr>
          <a:xfrm>
            <a:off x="9837690" y="1387116"/>
            <a:ext cx="14253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rgbClr val="192D9D"/>
                </a:solidFill>
              </a:rPr>
              <a:t>uidhtml</a:t>
            </a:r>
            <a:endParaRPr lang="en-IN" sz="2800" dirty="0">
              <a:solidFill>
                <a:srgbClr val="192D9D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4DE0EF-C5B5-04E3-EDA5-64CC0930A889}"/>
              </a:ext>
            </a:extLst>
          </p:cNvPr>
          <p:cNvSpPr txBox="1"/>
          <p:nvPr/>
        </p:nvSpPr>
        <p:spPr>
          <a:xfrm>
            <a:off x="4481119" y="2914380"/>
            <a:ext cx="416787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rgbClr val="FF0000"/>
                </a:solidFill>
              </a:rPr>
              <a:t>🫷 Avoid it</a:t>
            </a:r>
            <a:endParaRPr lang="en-IN" sz="6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0097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86D83-EEE2-C589-2551-6788D100B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3C90A-ACA3-100C-EFD2-4A82FEB7C4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519142"/>
            <a:ext cx="3720548" cy="438771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Types – chapter 6</a:t>
            </a: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1026" name="Picture 2" descr="Typescript - Free logo icons">
            <a:extLst>
              <a:ext uri="{FF2B5EF4-FFF2-40B4-BE49-F238E27FC236}">
                <a16:creationId xmlns:a16="http://schemas.microsoft.com/office/drawing/2014/main" id="{F3ADB775-E87E-8C7C-8797-20803BB0AF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672" y="867819"/>
            <a:ext cx="2441331" cy="2441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84E3F7-1D4C-5888-9A06-8A2DE14BF40A}"/>
              </a:ext>
            </a:extLst>
          </p:cNvPr>
          <p:cNvSpPr txBox="1"/>
          <p:nvPr/>
        </p:nvSpPr>
        <p:spPr>
          <a:xfrm>
            <a:off x="3202516" y="1985711"/>
            <a:ext cx="67609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rgbClr val="0037DA"/>
                </a:solidFill>
                <a:latin typeface="Segoe UI Variable Text Semibold" pitchFamily="2" charset="0"/>
              </a:rPr>
              <a:t>TypeScript</a:t>
            </a:r>
            <a:endParaRPr lang="en-IN" sz="8000" b="1" dirty="0">
              <a:latin typeface="Bahnschrift SemiBold SemiConden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802264-F2FC-F180-F09C-E03615BCB2BD}"/>
              </a:ext>
            </a:extLst>
          </p:cNvPr>
          <p:cNvSpPr txBox="1"/>
          <p:nvPr/>
        </p:nvSpPr>
        <p:spPr>
          <a:xfrm>
            <a:off x="6905832" y="144544"/>
            <a:ext cx="442941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 SemiBold SemiConden" panose="020B0502040204020203" pitchFamily="34" charset="0"/>
              </a:rPr>
              <a:t>Chapter 8</a:t>
            </a:r>
            <a:endParaRPr lang="en-IN" sz="8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57DBE0-4CCA-95F4-00DC-24DDF473828E}"/>
              </a:ext>
            </a:extLst>
          </p:cNvPr>
          <p:cNvSpPr txBox="1"/>
          <p:nvPr/>
        </p:nvSpPr>
        <p:spPr>
          <a:xfrm>
            <a:off x="290647" y="3548851"/>
            <a:ext cx="11610706" cy="240142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8000" b="1" dirty="0">
                <a:latin typeface="Bahnschrift SemiCondensed" panose="020B0502040204020203" pitchFamily="34" charset="0"/>
              </a:rPr>
              <a:t>Optional Annotation</a:t>
            </a:r>
            <a:br>
              <a:rPr lang="en-US" sz="8000" b="1" dirty="0">
                <a:latin typeface="Bahnschrift SemiCondensed" panose="020B0502040204020203" pitchFamily="34" charset="0"/>
              </a:rPr>
            </a:br>
            <a:r>
              <a:rPr lang="en-US" sz="9600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: </a:t>
            </a:r>
            <a:r>
              <a:rPr lang="en-US" sz="9600" b="1" dirty="0" err="1">
                <a:solidFill>
                  <a:srgbClr val="00B050"/>
                </a:solidFill>
                <a:latin typeface="Arial Rounded MT Bold" panose="020F0704030504030204" pitchFamily="34" charset="0"/>
              </a:rPr>
              <a:t>boolean</a:t>
            </a:r>
            <a:r>
              <a:rPr lang="en-US" sz="9600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 </a:t>
            </a:r>
            <a:r>
              <a:rPr lang="en-US" sz="9600" b="1" dirty="0">
                <a:latin typeface="Arial Rounded MT Bold" panose="020F0704030504030204" pitchFamily="34" charset="0"/>
              </a:rPr>
              <a:t>|</a:t>
            </a:r>
            <a:r>
              <a:rPr lang="en-US" sz="9600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 number</a:t>
            </a:r>
            <a:endParaRPr lang="en-US" sz="8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10381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1192</TotalTime>
  <Words>448</Words>
  <Application>Microsoft Office PowerPoint</Application>
  <PresentationFormat>Widescreen</PresentationFormat>
  <Paragraphs>126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9" baseType="lpstr">
      <vt:lpstr>ADLaM Display</vt:lpstr>
      <vt:lpstr>Aptos</vt:lpstr>
      <vt:lpstr>Aptos Display</vt:lpstr>
      <vt:lpstr>Arial</vt:lpstr>
      <vt:lpstr>Arial Rounded MT Bold</vt:lpstr>
      <vt:lpstr>Bahnschrift SemiBold SemiConden</vt:lpstr>
      <vt:lpstr>Bahnschrift SemiCondensed</vt:lpstr>
      <vt:lpstr>Cascadia Code</vt:lpstr>
      <vt:lpstr>Rage Italic</vt:lpstr>
      <vt:lpstr>Segoe UI Variable Text Semibold</vt:lpstr>
      <vt:lpstr>Trebuchet MS</vt:lpstr>
      <vt:lpstr>Berlin</vt:lpstr>
      <vt:lpstr>Install Typescript – Chapter 1</vt:lpstr>
      <vt:lpstr>Install Typescript – Chapter 1</vt:lpstr>
      <vt:lpstr>Install VSCode – Chapter 2</vt:lpstr>
      <vt:lpstr>PowerPoint Presentation</vt:lpstr>
      <vt:lpstr>Execute typescript – chapter 4</vt:lpstr>
      <vt:lpstr>Types – chapter 7</vt:lpstr>
      <vt:lpstr>Types – chapter 7</vt:lpstr>
      <vt:lpstr>Types – chapter 7</vt:lpstr>
      <vt:lpstr>Types – chapter 6</vt:lpstr>
      <vt:lpstr>Types – chapter 6</vt:lpstr>
      <vt:lpstr>Types – chapter 7</vt:lpstr>
      <vt:lpstr>Types – chapter 7</vt:lpstr>
      <vt:lpstr>Types – chapter 7</vt:lpstr>
      <vt:lpstr>Types – chapter 7</vt:lpstr>
      <vt:lpstr>Types – chapter 7</vt:lpstr>
      <vt:lpstr>Types – chapter 7</vt:lpstr>
      <vt:lpstr>Types – chapter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Gautam Kumar</dc:creator>
  <cp:lastModifiedBy>Gautam Kumar</cp:lastModifiedBy>
  <cp:revision>105</cp:revision>
  <dcterms:created xsi:type="dcterms:W3CDTF">2025-09-15T12:49:11Z</dcterms:created>
  <dcterms:modified xsi:type="dcterms:W3CDTF">2025-11-18T01:55:08Z</dcterms:modified>
</cp:coreProperties>
</file>