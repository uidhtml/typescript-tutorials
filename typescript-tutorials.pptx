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4" r:id="rId8"/>
    <p:sldId id="263" r:id="rId9"/>
    <p:sldId id="265" r:id="rId10"/>
    <p:sldId id="266" r:id="rId11"/>
    <p:sldId id="268" r:id="rId12"/>
    <p:sldId id="272" r:id="rId13"/>
    <p:sldId id="273" r:id="rId14"/>
    <p:sldId id="279" r:id="rId15"/>
    <p:sldId id="278" r:id="rId16"/>
    <p:sldId id="276" r:id="rId17"/>
    <p:sldId id="277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7DA"/>
    <a:srgbClr val="3178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3" d="100"/>
          <a:sy n="83" d="100"/>
        </p:scale>
        <p:origin x="614" y="-6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99723-41B8-49F9-B72A-1C6CA71BE0C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A7BAF9-EEF6-4203-B7CD-6B4BD8A466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17300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99723-41B8-49F9-B72A-1C6CA71BE0C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A7BAF9-EEF6-4203-B7CD-6B4BD8A466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27178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99723-41B8-49F9-B72A-1C6CA71BE0C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A7BAF9-EEF6-4203-B7CD-6B4BD8A466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32808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99723-41B8-49F9-B72A-1C6CA71BE0C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A7BAF9-EEF6-4203-B7CD-6B4BD8A466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71244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99723-41B8-49F9-B72A-1C6CA71BE0C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A7BAF9-EEF6-4203-B7CD-6B4BD8A466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21080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99723-41B8-49F9-B72A-1C6CA71BE0C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A7BAF9-EEF6-4203-B7CD-6B4BD8A466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63016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99723-41B8-49F9-B72A-1C6CA71BE0C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A7BAF9-EEF6-4203-B7CD-6B4BD8A466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76353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99723-41B8-49F9-B72A-1C6CA71BE0C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A7BAF9-EEF6-4203-B7CD-6B4BD8A466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42841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99723-41B8-49F9-B72A-1C6CA71BE0C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A7BAF9-EEF6-4203-B7CD-6B4BD8A466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20376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99723-41B8-49F9-B72A-1C6CA71BE0C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A7BAF9-EEF6-4203-B7CD-6B4BD8A466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46182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99723-41B8-49F9-B72A-1C6CA71BE0C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A7BAF9-EEF6-4203-B7CD-6B4BD8A466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48352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D99723-41B8-49F9-B72A-1C6CA71BE0C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A7BAF9-EEF6-4203-B7CD-6B4BD8A466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2988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B05D1-4039-5811-0C1E-7A7C09DDD3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16076"/>
            <a:ext cx="3647440" cy="438771"/>
          </a:xfrm>
        </p:spPr>
        <p:txBody>
          <a:bodyPr>
            <a:normAutofit fontScale="90000"/>
          </a:bodyPr>
          <a:lstStyle/>
          <a:p>
            <a:pPr algn="l"/>
            <a:r>
              <a:rPr lang="en-US" sz="2400" dirty="0">
                <a:solidFill>
                  <a:schemeClr val="bg1"/>
                </a:solidFill>
              </a:rPr>
              <a:t>Install Typescript – Chapter 1</a:t>
            </a:r>
            <a:endParaRPr lang="en-IN" sz="24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F7634C-93A3-7050-FC0F-920CC5877F62}"/>
              </a:ext>
            </a:extLst>
          </p:cNvPr>
          <p:cNvSpPr txBox="1"/>
          <p:nvPr/>
        </p:nvSpPr>
        <p:spPr>
          <a:xfrm>
            <a:off x="2596411" y="930471"/>
            <a:ext cx="6050054" cy="156966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9600" dirty="0">
                <a:solidFill>
                  <a:srgbClr val="0037DA"/>
                </a:solidFill>
                <a:latin typeface="Segoe UI Variable Text Semibold" pitchFamily="2" charset="0"/>
              </a:rPr>
              <a:t>TypeScript</a:t>
            </a:r>
            <a:endParaRPr lang="en-IN" sz="9600" dirty="0">
              <a:solidFill>
                <a:srgbClr val="0037DA"/>
              </a:solidFill>
              <a:latin typeface="Segoe UI Variable Text Semibold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2EBD49-EE01-781E-2A4B-179233560F37}"/>
              </a:ext>
            </a:extLst>
          </p:cNvPr>
          <p:cNvSpPr txBox="1"/>
          <p:nvPr/>
        </p:nvSpPr>
        <p:spPr>
          <a:xfrm>
            <a:off x="888998" y="3085204"/>
            <a:ext cx="10414006" cy="28931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600" dirty="0">
                <a:latin typeface="Bahnschrift SemiBold SemiConden" panose="020B0502040204020203" pitchFamily="34" charset="0"/>
              </a:rPr>
              <a:t>Installation</a:t>
            </a:r>
            <a:br>
              <a:rPr lang="en-US" sz="6600" dirty="0"/>
            </a:br>
            <a:r>
              <a:rPr lang="en-US" sz="2800" dirty="0"/>
              <a:t>one-time setup</a:t>
            </a:r>
          </a:p>
          <a:p>
            <a:pPr algn="ctr"/>
            <a:endParaRPr lang="en-US" sz="2800" dirty="0"/>
          </a:p>
          <a:p>
            <a:pPr algn="ctr"/>
            <a:r>
              <a:rPr lang="en-US" sz="6000" b="1" dirty="0">
                <a:solidFill>
                  <a:srgbClr val="002060"/>
                </a:solidFill>
                <a:latin typeface="Trebuchet MS" panose="020B0603020202020204" pitchFamily="34" charset="0"/>
              </a:rPr>
              <a:t>Creating first APP with Axios</a:t>
            </a:r>
            <a:endParaRPr lang="en-IN" sz="6000" b="1" dirty="0">
              <a:solidFill>
                <a:srgbClr val="002060"/>
              </a:solidFill>
              <a:latin typeface="Trebuchet MS" panose="020B0603020202020204" pitchFamily="34" charset="0"/>
            </a:endParaRPr>
          </a:p>
        </p:txBody>
      </p:sp>
      <p:pic>
        <p:nvPicPr>
          <p:cNvPr id="1026" name="Picture 2" descr="Typescript - Free logo icons">
            <a:extLst>
              <a:ext uri="{FF2B5EF4-FFF2-40B4-BE49-F238E27FC236}">
                <a16:creationId xmlns:a16="http://schemas.microsoft.com/office/drawing/2014/main" id="{747ACA51-8793-622E-5937-052CC2A09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014" y="268224"/>
            <a:ext cx="2130349" cy="2130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A4824883-BE5A-1478-BDE7-3FF7BF9D686B}"/>
              </a:ext>
            </a:extLst>
          </p:cNvPr>
          <p:cNvSpPr/>
          <p:nvPr/>
        </p:nvSpPr>
        <p:spPr>
          <a:xfrm flipV="1">
            <a:off x="8303565" y="3026465"/>
            <a:ext cx="342900" cy="342900"/>
          </a:xfrm>
          <a:prstGeom prst="ellipse">
            <a:avLst/>
          </a:prstGeom>
          <a:noFill/>
          <a:ln w="44450">
            <a:solidFill>
              <a:schemeClr val="accent2">
                <a:lumMod val="40000"/>
                <a:lumOff val="60000"/>
                <a:alpha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B1D8056-2B95-4C57-2EB8-1B126500580D}"/>
              </a:ext>
            </a:extLst>
          </p:cNvPr>
          <p:cNvSpPr/>
          <p:nvPr/>
        </p:nvSpPr>
        <p:spPr>
          <a:xfrm flipV="1">
            <a:off x="329708" y="4450974"/>
            <a:ext cx="426830" cy="426830"/>
          </a:xfrm>
          <a:prstGeom prst="ellipse">
            <a:avLst/>
          </a:prstGeom>
          <a:noFill/>
          <a:ln w="44450">
            <a:solidFill>
              <a:schemeClr val="bg2">
                <a:lumMod val="75000"/>
                <a:alpha val="2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BF81D4C-7708-CE35-1602-3646880096E8}"/>
              </a:ext>
            </a:extLst>
          </p:cNvPr>
          <p:cNvSpPr/>
          <p:nvPr/>
        </p:nvSpPr>
        <p:spPr>
          <a:xfrm flipV="1">
            <a:off x="10537473" y="1240217"/>
            <a:ext cx="475084" cy="475084"/>
          </a:xfrm>
          <a:prstGeom prst="ellipse">
            <a:avLst/>
          </a:prstGeom>
          <a:noFill/>
          <a:ln w="44450">
            <a:solidFill>
              <a:schemeClr val="tx2">
                <a:lumMod val="20000"/>
                <a:lumOff val="80000"/>
                <a:alpha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41FFA9-60A9-85BC-8C91-67021BC38138}"/>
              </a:ext>
            </a:extLst>
          </p:cNvPr>
          <p:cNvSpPr/>
          <p:nvPr/>
        </p:nvSpPr>
        <p:spPr>
          <a:xfrm flipV="1">
            <a:off x="1822492" y="3528403"/>
            <a:ext cx="309561" cy="309561"/>
          </a:xfrm>
          <a:prstGeom prst="ellipse">
            <a:avLst/>
          </a:prstGeom>
          <a:noFill/>
          <a:ln w="44450">
            <a:solidFill>
              <a:schemeClr val="accent5">
                <a:lumMod val="60000"/>
                <a:lumOff val="40000"/>
                <a:alpha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2CB23C5-1703-4EF6-6B48-D4BC4DA8ABC9}"/>
              </a:ext>
            </a:extLst>
          </p:cNvPr>
          <p:cNvSpPr/>
          <p:nvPr/>
        </p:nvSpPr>
        <p:spPr>
          <a:xfrm flipV="1">
            <a:off x="9692419" y="6166528"/>
            <a:ext cx="426830" cy="426830"/>
          </a:xfrm>
          <a:prstGeom prst="ellipse">
            <a:avLst/>
          </a:prstGeom>
          <a:noFill/>
          <a:ln w="44450">
            <a:solidFill>
              <a:srgbClr val="FFFF00">
                <a:alpha val="50000"/>
              </a:srgb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E518307-D499-157F-D7A8-19676B838F33}"/>
              </a:ext>
            </a:extLst>
          </p:cNvPr>
          <p:cNvSpPr/>
          <p:nvPr/>
        </p:nvSpPr>
        <p:spPr>
          <a:xfrm flipV="1">
            <a:off x="11303002" y="4358816"/>
            <a:ext cx="345875" cy="345875"/>
          </a:xfrm>
          <a:prstGeom prst="ellipse">
            <a:avLst/>
          </a:prstGeom>
          <a:noFill/>
          <a:ln w="44450">
            <a:solidFill>
              <a:schemeClr val="tx2">
                <a:lumMod val="40000"/>
                <a:lumOff val="60000"/>
                <a:alpha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677630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5E3A1-89AA-3FF5-9295-4F8DC02E9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23CE6-CA7A-F2FB-334B-900636C319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15334"/>
            <a:ext cx="3720548" cy="438771"/>
          </a:xfrm>
        </p:spPr>
        <p:txBody>
          <a:bodyPr>
            <a:normAutofit/>
          </a:bodyPr>
          <a:lstStyle/>
          <a:p>
            <a:pPr algn="l"/>
            <a:r>
              <a:rPr lang="en-US" sz="2400" dirty="0">
                <a:solidFill>
                  <a:schemeClr val="bg1"/>
                </a:solidFill>
              </a:rPr>
              <a:t>Install Typescript – Chapter 1</a:t>
            </a:r>
            <a:endParaRPr lang="en-IN" sz="24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A30E85-3974-1D8F-EED9-EF46A8EBC36C}"/>
              </a:ext>
            </a:extLst>
          </p:cNvPr>
          <p:cNvSpPr txBox="1"/>
          <p:nvPr/>
        </p:nvSpPr>
        <p:spPr>
          <a:xfrm>
            <a:off x="1204707" y="583479"/>
            <a:ext cx="54827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0037DA"/>
                </a:solidFill>
                <a:latin typeface="Segoe UI Variable Text Semibold" pitchFamily="2" charset="0"/>
              </a:rPr>
              <a:t>TypeScript</a:t>
            </a:r>
            <a:endParaRPr lang="en-IN" sz="4000" b="1" dirty="0">
              <a:latin typeface="Bahnschrift SemiBold SemiConden" panose="020B0502040204020203" pitchFamily="34" charset="0"/>
            </a:endParaRPr>
          </a:p>
        </p:txBody>
      </p:sp>
      <p:pic>
        <p:nvPicPr>
          <p:cNvPr id="1026" name="Picture 2" descr="Typescript - Free logo icons">
            <a:extLst>
              <a:ext uri="{FF2B5EF4-FFF2-40B4-BE49-F238E27FC236}">
                <a16:creationId xmlns:a16="http://schemas.microsoft.com/office/drawing/2014/main" id="{EB627004-260D-163F-C436-E5A0B42147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015" y="268225"/>
            <a:ext cx="958692" cy="958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BA1F95D-46A6-4036-4933-BC3393343461}"/>
              </a:ext>
            </a:extLst>
          </p:cNvPr>
          <p:cNvSpPr txBox="1"/>
          <p:nvPr/>
        </p:nvSpPr>
        <p:spPr>
          <a:xfrm>
            <a:off x="377232" y="2062449"/>
            <a:ext cx="9541330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0037DA"/>
                </a:solidFill>
                <a:latin typeface="Bahnschrift SemiBold SemiConden" panose="020B0502040204020203" pitchFamily="34" charset="0"/>
              </a:rPr>
              <a:t>Window</a:t>
            </a:r>
            <a:r>
              <a:rPr lang="en-US" sz="4800" dirty="0">
                <a:solidFill>
                  <a:srgbClr val="0037DA"/>
                </a:solidFill>
              </a:rPr>
              <a:t> </a:t>
            </a:r>
            <a:br>
              <a:rPr lang="en-US" sz="2800" dirty="0">
                <a:solidFill>
                  <a:srgbClr val="0037DA"/>
                </a:solidFill>
              </a:rPr>
            </a:br>
            <a:r>
              <a:rPr lang="en-US" sz="2800" dirty="0"/>
              <a:t>1. Install Node: Download Node from </a:t>
            </a:r>
            <a:r>
              <a:rPr lang="en-US" sz="2800" i="1" dirty="0">
                <a:solidFill>
                  <a:srgbClr val="0037DA"/>
                </a:solidFill>
              </a:rPr>
              <a:t>https://nodejs.org/en</a:t>
            </a:r>
            <a:br>
              <a:rPr lang="en-US" sz="2800" dirty="0"/>
            </a:br>
            <a:r>
              <a:rPr lang="en-US" sz="2800" dirty="0"/>
              <a:t>2. Check if “</a:t>
            </a:r>
            <a:r>
              <a:rPr lang="en-US" sz="2800" b="1" dirty="0" err="1">
                <a:solidFill>
                  <a:srgbClr val="0037DA"/>
                </a:solidFill>
              </a:rPr>
              <a:t>npm</a:t>
            </a:r>
            <a:r>
              <a:rPr lang="en-US" sz="2800" dirty="0"/>
              <a:t>” is installed correctly: “</a:t>
            </a:r>
            <a:r>
              <a:rPr lang="en-US" sz="2800" i="1" dirty="0" err="1">
                <a:solidFill>
                  <a:srgbClr val="0037DA"/>
                </a:solidFill>
              </a:rPr>
              <a:t>npm</a:t>
            </a:r>
            <a:r>
              <a:rPr lang="en-US" sz="2800" i="1" dirty="0">
                <a:solidFill>
                  <a:srgbClr val="0037DA"/>
                </a:solidFill>
              </a:rPr>
              <a:t> - -version</a:t>
            </a:r>
            <a:r>
              <a:rPr lang="en-US" sz="2800" i="1" dirty="0"/>
              <a:t>” </a:t>
            </a:r>
            <a:r>
              <a:rPr lang="en-US" sz="2800" dirty="0"/>
              <a:t>on CMD</a:t>
            </a:r>
          </a:p>
          <a:p>
            <a:r>
              <a:rPr lang="en-US" sz="2800" dirty="0"/>
              <a:t>3. Install </a:t>
            </a:r>
            <a:r>
              <a:rPr lang="en-US" sz="2800" b="1" dirty="0">
                <a:solidFill>
                  <a:srgbClr val="0037DA"/>
                </a:solidFill>
              </a:rPr>
              <a:t>Typescript</a:t>
            </a:r>
            <a:r>
              <a:rPr lang="en-US" sz="2800" dirty="0"/>
              <a:t> and </a:t>
            </a:r>
            <a:r>
              <a:rPr lang="en-US" sz="2800" b="1" dirty="0" err="1">
                <a:solidFill>
                  <a:srgbClr val="0037DA"/>
                </a:solidFill>
              </a:rPr>
              <a:t>ts</a:t>
            </a:r>
            <a:r>
              <a:rPr lang="en-US" sz="2800" b="1" dirty="0">
                <a:solidFill>
                  <a:srgbClr val="0037DA"/>
                </a:solidFill>
              </a:rPr>
              <a:t>-node</a:t>
            </a:r>
            <a:br>
              <a:rPr lang="en-US" sz="2800" dirty="0"/>
            </a:br>
            <a:r>
              <a:rPr lang="en-US" sz="2800" dirty="0"/>
              <a:t>“</a:t>
            </a:r>
            <a:r>
              <a:rPr lang="en-IN" sz="2800" i="1" dirty="0" err="1">
                <a:solidFill>
                  <a:srgbClr val="0037DA"/>
                </a:solidFill>
              </a:rPr>
              <a:t>npm</a:t>
            </a:r>
            <a:r>
              <a:rPr lang="en-IN" sz="2800" i="1" dirty="0">
                <a:solidFill>
                  <a:srgbClr val="0037DA"/>
                </a:solidFill>
              </a:rPr>
              <a:t> install -g typescript </a:t>
            </a:r>
            <a:r>
              <a:rPr lang="en-IN" sz="2800" i="1" dirty="0" err="1">
                <a:solidFill>
                  <a:srgbClr val="0037DA"/>
                </a:solidFill>
              </a:rPr>
              <a:t>ts</a:t>
            </a:r>
            <a:r>
              <a:rPr lang="en-IN" sz="2800" i="1" dirty="0">
                <a:solidFill>
                  <a:srgbClr val="0037DA"/>
                </a:solidFill>
              </a:rPr>
              <a:t>-node</a:t>
            </a:r>
            <a:r>
              <a:rPr lang="en-IN" sz="2800" i="1" dirty="0"/>
              <a:t>”</a:t>
            </a:r>
            <a:endParaRPr lang="en-IN" sz="4800" dirty="0"/>
          </a:p>
          <a:p>
            <a:r>
              <a:rPr lang="en-IN" sz="4800" dirty="0">
                <a:solidFill>
                  <a:srgbClr val="0037DA"/>
                </a:solidFill>
                <a:latin typeface="Bahnschrift SemiBold SemiConden" panose="020B0502040204020203" pitchFamily="34" charset="0"/>
              </a:rPr>
              <a:t>macOS</a:t>
            </a:r>
            <a:br>
              <a:rPr lang="en-IN" sz="2800" i="1" dirty="0">
                <a:solidFill>
                  <a:srgbClr val="0037DA"/>
                </a:solidFill>
              </a:rPr>
            </a:br>
            <a:r>
              <a:rPr lang="en-IN" sz="2800" dirty="0"/>
              <a:t>If getting </a:t>
            </a:r>
            <a:r>
              <a:rPr lang="en-IN" sz="2800" b="1" i="1" dirty="0">
                <a:solidFill>
                  <a:srgbClr val="C00000"/>
                </a:solidFill>
              </a:rPr>
              <a:t>EACCESS</a:t>
            </a:r>
            <a:r>
              <a:rPr lang="en-IN" sz="2800" dirty="0"/>
              <a:t> error, add “</a:t>
            </a:r>
            <a:r>
              <a:rPr lang="en-IN" sz="2800" b="1" i="1" dirty="0" err="1">
                <a:solidFill>
                  <a:srgbClr val="0037DA"/>
                </a:solidFill>
              </a:rPr>
              <a:t>sudo</a:t>
            </a:r>
            <a:r>
              <a:rPr lang="en-IN" sz="2800" i="1" dirty="0"/>
              <a:t>”</a:t>
            </a:r>
            <a:r>
              <a:rPr lang="en-IN" sz="2800" dirty="0"/>
              <a:t> in front of the command</a:t>
            </a:r>
            <a:br>
              <a:rPr lang="en-IN" sz="2800" dirty="0"/>
            </a:br>
            <a:r>
              <a:rPr lang="en-US" sz="2800" dirty="0"/>
              <a:t>“</a:t>
            </a:r>
            <a:r>
              <a:rPr lang="en-US" sz="2800" i="1" dirty="0" err="1">
                <a:solidFill>
                  <a:srgbClr val="0037DA"/>
                </a:solidFill>
              </a:rPr>
              <a:t>sudo</a:t>
            </a:r>
            <a:r>
              <a:rPr lang="en-US" sz="2800" i="1" dirty="0">
                <a:solidFill>
                  <a:srgbClr val="0037DA"/>
                </a:solidFill>
              </a:rPr>
              <a:t> </a:t>
            </a:r>
            <a:r>
              <a:rPr lang="en-IN" sz="2800" i="1" dirty="0" err="1">
                <a:solidFill>
                  <a:srgbClr val="0037DA"/>
                </a:solidFill>
              </a:rPr>
              <a:t>npm</a:t>
            </a:r>
            <a:r>
              <a:rPr lang="en-IN" sz="2800" i="1" dirty="0">
                <a:solidFill>
                  <a:srgbClr val="0037DA"/>
                </a:solidFill>
              </a:rPr>
              <a:t> install -g typescript </a:t>
            </a:r>
            <a:r>
              <a:rPr lang="en-IN" sz="2800" i="1" dirty="0" err="1">
                <a:solidFill>
                  <a:srgbClr val="0037DA"/>
                </a:solidFill>
              </a:rPr>
              <a:t>ts</a:t>
            </a:r>
            <a:r>
              <a:rPr lang="en-IN" sz="2800" i="1" dirty="0">
                <a:solidFill>
                  <a:srgbClr val="0037DA"/>
                </a:solidFill>
              </a:rPr>
              <a:t>-node</a:t>
            </a:r>
            <a:r>
              <a:rPr lang="en-IN" sz="2800" i="1" dirty="0"/>
              <a:t>”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09896EE-08BE-5E6E-7B23-4CA9E6FBDBA2}"/>
              </a:ext>
            </a:extLst>
          </p:cNvPr>
          <p:cNvSpPr/>
          <p:nvPr/>
        </p:nvSpPr>
        <p:spPr>
          <a:xfrm flipV="1">
            <a:off x="6687475" y="1414135"/>
            <a:ext cx="685800" cy="685800"/>
          </a:xfrm>
          <a:prstGeom prst="ellipse">
            <a:avLst/>
          </a:prstGeom>
          <a:noFill/>
          <a:ln w="4445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AB6E9EC-B1AA-9B17-C615-5B9EA22519BA}"/>
              </a:ext>
            </a:extLst>
          </p:cNvPr>
          <p:cNvSpPr/>
          <p:nvPr/>
        </p:nvSpPr>
        <p:spPr>
          <a:xfrm flipV="1">
            <a:off x="6524584" y="4139941"/>
            <a:ext cx="1011582" cy="1011582"/>
          </a:xfrm>
          <a:prstGeom prst="ellipse">
            <a:avLst/>
          </a:prstGeom>
          <a:noFill/>
          <a:ln w="44450">
            <a:solidFill>
              <a:schemeClr val="bg1">
                <a:alpha val="2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DEF0F10-DDBC-586D-951E-5153A032E162}"/>
              </a:ext>
            </a:extLst>
          </p:cNvPr>
          <p:cNvSpPr/>
          <p:nvPr/>
        </p:nvSpPr>
        <p:spPr>
          <a:xfrm>
            <a:off x="10510074" y="3996407"/>
            <a:ext cx="512422" cy="512422"/>
          </a:xfrm>
          <a:prstGeom prst="ellipse">
            <a:avLst/>
          </a:prstGeom>
          <a:noFill/>
          <a:ln w="44450">
            <a:solidFill>
              <a:schemeClr val="tx2">
                <a:lumMod val="20000"/>
                <a:lumOff val="80000"/>
                <a:alpha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A2D7F89-0AAE-7C07-033F-B157DE10ED3A}"/>
              </a:ext>
            </a:extLst>
          </p:cNvPr>
          <p:cNvSpPr/>
          <p:nvPr/>
        </p:nvSpPr>
        <p:spPr>
          <a:xfrm flipV="1">
            <a:off x="10734581" y="5676972"/>
            <a:ext cx="685800" cy="685800"/>
          </a:xfrm>
          <a:prstGeom prst="ellipse">
            <a:avLst/>
          </a:prstGeom>
          <a:noFill/>
          <a:ln w="44450">
            <a:solidFill>
              <a:schemeClr val="tx2">
                <a:lumMod val="40000"/>
                <a:lumOff val="6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75DD229-8826-4412-0B16-5B854A6A33C7}"/>
              </a:ext>
            </a:extLst>
          </p:cNvPr>
          <p:cNvSpPr/>
          <p:nvPr/>
        </p:nvSpPr>
        <p:spPr>
          <a:xfrm flipV="1">
            <a:off x="9018417" y="4368039"/>
            <a:ext cx="508791" cy="508791"/>
          </a:xfrm>
          <a:prstGeom prst="ellipse">
            <a:avLst/>
          </a:prstGeom>
          <a:noFill/>
          <a:ln w="44450">
            <a:solidFill>
              <a:srgbClr val="92D05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88ED546-28D7-4D48-B65B-FA7132DD1295}"/>
              </a:ext>
            </a:extLst>
          </p:cNvPr>
          <p:cNvSpPr/>
          <p:nvPr/>
        </p:nvSpPr>
        <p:spPr>
          <a:xfrm flipV="1">
            <a:off x="6796249" y="4508084"/>
            <a:ext cx="368746" cy="368746"/>
          </a:xfrm>
          <a:prstGeom prst="ellipse">
            <a:avLst/>
          </a:prstGeom>
          <a:noFill/>
          <a:ln w="44450">
            <a:solidFill>
              <a:srgbClr val="FFFF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88C7C1-94C9-CF60-286A-6102BE580259}"/>
              </a:ext>
            </a:extLst>
          </p:cNvPr>
          <p:cNvSpPr txBox="1"/>
          <p:nvPr/>
        </p:nvSpPr>
        <p:spPr>
          <a:xfrm>
            <a:off x="377232" y="1345451"/>
            <a:ext cx="6147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Bahnschrift SemiBold SemiConden" panose="020B0502040204020203" pitchFamily="34" charset="0"/>
              </a:rPr>
              <a:t>Environment Setup</a:t>
            </a:r>
            <a:endParaRPr lang="en-IN" sz="48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35B1DB-B82D-4317-43EF-3ACE7F47F97B}"/>
              </a:ext>
            </a:extLst>
          </p:cNvPr>
          <p:cNvSpPr txBox="1"/>
          <p:nvPr/>
        </p:nvSpPr>
        <p:spPr>
          <a:xfrm>
            <a:off x="8737021" y="268224"/>
            <a:ext cx="296427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92D050"/>
                </a:solidFill>
                <a:latin typeface="Bahnschrift SemiBold SemiConden" panose="020B0502040204020203" pitchFamily="34" charset="0"/>
              </a:rPr>
              <a:t>Chapter 1</a:t>
            </a:r>
            <a:endParaRPr lang="en-IN" sz="6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0531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50B862-904D-8A44-C37E-CE8DB8940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01ECE-ABFC-B341-B390-3692B23881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479796"/>
            <a:ext cx="3830320" cy="438771"/>
          </a:xfrm>
        </p:spPr>
        <p:txBody>
          <a:bodyPr>
            <a:normAutofit/>
          </a:bodyPr>
          <a:lstStyle/>
          <a:p>
            <a:pPr algn="l"/>
            <a:r>
              <a:rPr lang="en-US" sz="2400" dirty="0">
                <a:solidFill>
                  <a:schemeClr val="bg1"/>
                </a:solidFill>
              </a:rPr>
              <a:t>Install </a:t>
            </a:r>
            <a:r>
              <a:rPr lang="en-US" sz="2400" dirty="0" err="1">
                <a:solidFill>
                  <a:schemeClr val="bg1"/>
                </a:solidFill>
              </a:rPr>
              <a:t>VSCode</a:t>
            </a:r>
            <a:r>
              <a:rPr lang="en-US" sz="2400" dirty="0">
                <a:solidFill>
                  <a:schemeClr val="bg1"/>
                </a:solidFill>
              </a:rPr>
              <a:t> – Chapter 2</a:t>
            </a:r>
            <a:endParaRPr lang="en-IN" sz="2400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8CBE6E-3B27-4E9D-CED0-A6F6DD67B21B}"/>
              </a:ext>
            </a:extLst>
          </p:cNvPr>
          <p:cNvSpPr txBox="1"/>
          <p:nvPr/>
        </p:nvSpPr>
        <p:spPr>
          <a:xfrm>
            <a:off x="2086733" y="2752491"/>
            <a:ext cx="8018542" cy="15388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600" dirty="0">
                <a:latin typeface="Bahnschrift SemiBold SemiConden" panose="020B0502040204020203" pitchFamily="34" charset="0"/>
              </a:rPr>
              <a:t>Download &amp; installation</a:t>
            </a:r>
            <a:br>
              <a:rPr lang="en-US" sz="6600" dirty="0"/>
            </a:br>
            <a:r>
              <a:rPr lang="en-US" sz="2800" dirty="0"/>
              <a:t>code editor</a:t>
            </a:r>
            <a:endParaRPr lang="en-IN" sz="2800" dirty="0"/>
          </a:p>
        </p:txBody>
      </p:sp>
      <p:pic>
        <p:nvPicPr>
          <p:cNvPr id="1026" name="Picture 2" descr="Typescript - Free logo icons">
            <a:extLst>
              <a:ext uri="{FF2B5EF4-FFF2-40B4-BE49-F238E27FC236}">
                <a16:creationId xmlns:a16="http://schemas.microsoft.com/office/drawing/2014/main" id="{919835DA-7A99-C336-24E2-05E1513C90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014" y="268224"/>
            <a:ext cx="767777" cy="767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62B4850-CA24-F14B-B395-59022B2E0766}"/>
              </a:ext>
            </a:extLst>
          </p:cNvPr>
          <p:cNvSpPr txBox="1"/>
          <p:nvPr/>
        </p:nvSpPr>
        <p:spPr>
          <a:xfrm>
            <a:off x="2602608" y="4558510"/>
            <a:ext cx="6986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200" i="1" dirty="0">
                <a:solidFill>
                  <a:srgbClr val="0037DA"/>
                </a:solidFill>
              </a:rPr>
              <a:t>https://code.visualstudio.com/download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8D689E-4C90-4FDE-D271-EB26489A1DF5}"/>
              </a:ext>
            </a:extLst>
          </p:cNvPr>
          <p:cNvSpPr txBox="1"/>
          <p:nvPr/>
        </p:nvSpPr>
        <p:spPr>
          <a:xfrm>
            <a:off x="1013790" y="482602"/>
            <a:ext cx="55394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037DA"/>
                </a:solidFill>
                <a:latin typeface="Segoe UI Variable Text Semibold" pitchFamily="2" charset="0"/>
              </a:rPr>
              <a:t>TypeScript</a:t>
            </a:r>
            <a:endParaRPr lang="en-IN" sz="3600" b="1" dirty="0">
              <a:latin typeface="Bahnschrift SemiBold SemiConden" panose="020B0502040204020203" pitchFamily="34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B62CA04-3450-C3E0-1D9C-92C150FF272B}"/>
              </a:ext>
            </a:extLst>
          </p:cNvPr>
          <p:cNvGrpSpPr/>
          <p:nvPr/>
        </p:nvGrpSpPr>
        <p:grpSpPr>
          <a:xfrm>
            <a:off x="3988076" y="1552162"/>
            <a:ext cx="4215848" cy="1200329"/>
            <a:chOff x="3430655" y="1795175"/>
            <a:chExt cx="4215848" cy="1200329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6FDE251-6F5B-3290-AE9C-A7873E927D9F}"/>
                </a:ext>
              </a:extLst>
            </p:cNvPr>
            <p:cNvSpPr txBox="1"/>
            <p:nvPr/>
          </p:nvSpPr>
          <p:spPr>
            <a:xfrm>
              <a:off x="4465981" y="1795175"/>
              <a:ext cx="318052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200" dirty="0" err="1">
                  <a:solidFill>
                    <a:srgbClr val="0037DA"/>
                  </a:solidFill>
                  <a:latin typeface="Bahnschrift SemiBold SemiConden" panose="020B0502040204020203" pitchFamily="34" charset="0"/>
                </a:rPr>
                <a:t>VSCode</a:t>
              </a:r>
              <a:endParaRPr lang="en-IN" sz="7200" dirty="0">
                <a:solidFill>
                  <a:srgbClr val="0037DA"/>
                </a:solidFill>
                <a:latin typeface="Bahnschrift SemiBold SemiConden" panose="020B0502040204020203" pitchFamily="34" charset="0"/>
              </a:endParaRP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7B2DCE9-DCF4-7F11-48E0-062D65CECD5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30655" y="1895573"/>
              <a:ext cx="1099931" cy="10999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6" name="Oval 15">
            <a:extLst>
              <a:ext uri="{FF2B5EF4-FFF2-40B4-BE49-F238E27FC236}">
                <a16:creationId xmlns:a16="http://schemas.microsoft.com/office/drawing/2014/main" id="{4875F057-2891-52F6-A8C8-A60BC6D8193D}"/>
              </a:ext>
            </a:extLst>
          </p:cNvPr>
          <p:cNvSpPr/>
          <p:nvPr/>
        </p:nvSpPr>
        <p:spPr>
          <a:xfrm flipV="1">
            <a:off x="506231" y="5020916"/>
            <a:ext cx="685800" cy="685800"/>
          </a:xfrm>
          <a:prstGeom prst="ellipse">
            <a:avLst/>
          </a:prstGeom>
          <a:noFill/>
          <a:ln w="44450">
            <a:solidFill>
              <a:schemeClr val="accent2">
                <a:lumMod val="40000"/>
                <a:lumOff val="60000"/>
                <a:alpha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1BA9C78-E43C-609C-2E70-CC1EE34AC030}"/>
              </a:ext>
            </a:extLst>
          </p:cNvPr>
          <p:cNvSpPr/>
          <p:nvPr/>
        </p:nvSpPr>
        <p:spPr>
          <a:xfrm flipV="1">
            <a:off x="1779864" y="5363816"/>
            <a:ext cx="1011582" cy="1011582"/>
          </a:xfrm>
          <a:prstGeom prst="ellipse">
            <a:avLst/>
          </a:prstGeom>
          <a:noFill/>
          <a:ln w="44450">
            <a:solidFill>
              <a:schemeClr val="bg1">
                <a:alpha val="2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5DC8AC2-9A3D-2BA8-9FD5-ED22863BABB2}"/>
              </a:ext>
            </a:extLst>
          </p:cNvPr>
          <p:cNvSpPr/>
          <p:nvPr/>
        </p:nvSpPr>
        <p:spPr>
          <a:xfrm flipV="1">
            <a:off x="10631231" y="2307242"/>
            <a:ext cx="496451" cy="496451"/>
          </a:xfrm>
          <a:prstGeom prst="ellipse">
            <a:avLst/>
          </a:prstGeom>
          <a:noFill/>
          <a:ln w="44450">
            <a:solidFill>
              <a:schemeClr val="tx2">
                <a:lumMod val="20000"/>
                <a:lumOff val="80000"/>
                <a:alpha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7E09BC9-BFD8-6BA4-5388-B10FC5E12328}"/>
              </a:ext>
            </a:extLst>
          </p:cNvPr>
          <p:cNvSpPr/>
          <p:nvPr/>
        </p:nvSpPr>
        <p:spPr>
          <a:xfrm flipV="1">
            <a:off x="7956274" y="5477843"/>
            <a:ext cx="685800" cy="685800"/>
          </a:xfrm>
          <a:prstGeom prst="ellipse">
            <a:avLst/>
          </a:prstGeom>
          <a:noFill/>
          <a:ln w="44450">
            <a:solidFill>
              <a:schemeClr val="tx2">
                <a:lumMod val="40000"/>
                <a:lumOff val="60000"/>
                <a:alpha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84F285D-16DC-732D-D691-2F4D2A2A8932}"/>
              </a:ext>
            </a:extLst>
          </p:cNvPr>
          <p:cNvSpPr/>
          <p:nvPr/>
        </p:nvSpPr>
        <p:spPr>
          <a:xfrm flipV="1">
            <a:off x="8019551" y="3930794"/>
            <a:ext cx="368746" cy="368746"/>
          </a:xfrm>
          <a:prstGeom prst="ellipse">
            <a:avLst/>
          </a:prstGeom>
          <a:noFill/>
          <a:ln w="44450">
            <a:solidFill>
              <a:schemeClr val="tx2">
                <a:lumMod val="40000"/>
                <a:lumOff val="60000"/>
                <a:alpha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51DB8AA-97DC-34AE-858C-BDDE2AB473EF}"/>
              </a:ext>
            </a:extLst>
          </p:cNvPr>
          <p:cNvSpPr/>
          <p:nvPr/>
        </p:nvSpPr>
        <p:spPr>
          <a:xfrm flipV="1">
            <a:off x="1192031" y="2773178"/>
            <a:ext cx="368746" cy="368746"/>
          </a:xfrm>
          <a:prstGeom prst="ellipse">
            <a:avLst/>
          </a:prstGeom>
          <a:noFill/>
          <a:ln w="44450">
            <a:solidFill>
              <a:schemeClr val="tx2">
                <a:lumMod val="40000"/>
                <a:lumOff val="60000"/>
                <a:alpha val="82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B2270F-8794-95F2-610D-8B30B891CCDD}"/>
              </a:ext>
            </a:extLst>
          </p:cNvPr>
          <p:cNvSpPr txBox="1"/>
          <p:nvPr/>
        </p:nvSpPr>
        <p:spPr>
          <a:xfrm>
            <a:off x="8642074" y="186525"/>
            <a:ext cx="296427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92D050"/>
                </a:solidFill>
                <a:latin typeface="Bahnschrift SemiBold SemiConden" panose="020B0502040204020203" pitchFamily="34" charset="0"/>
              </a:rPr>
              <a:t>Chapter 1</a:t>
            </a:r>
            <a:endParaRPr lang="en-IN" sz="6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874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034F40-0446-0B0E-DF81-2DFA2DAE1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2830C-FE34-D726-5F44-766818ABB8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497121"/>
            <a:ext cx="3720548" cy="438771"/>
          </a:xfrm>
        </p:spPr>
        <p:txBody>
          <a:bodyPr>
            <a:normAutofit/>
          </a:bodyPr>
          <a:lstStyle/>
          <a:p>
            <a:pPr algn="l"/>
            <a:r>
              <a:rPr lang="en-US" sz="2400" dirty="0">
                <a:solidFill>
                  <a:schemeClr val="bg1"/>
                </a:solidFill>
              </a:rPr>
              <a:t>First App – Chapter 3</a:t>
            </a:r>
            <a:endParaRPr lang="en-IN" sz="2400" dirty="0">
              <a:solidFill>
                <a:schemeClr val="bg1"/>
              </a:solidFill>
            </a:endParaRPr>
          </a:p>
        </p:txBody>
      </p:sp>
      <p:pic>
        <p:nvPicPr>
          <p:cNvPr id="1026" name="Picture 2" descr="Typescript - Free logo icons">
            <a:extLst>
              <a:ext uri="{FF2B5EF4-FFF2-40B4-BE49-F238E27FC236}">
                <a16:creationId xmlns:a16="http://schemas.microsoft.com/office/drawing/2014/main" id="{B8626707-613C-EE15-B1D8-AF49A65CB6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014" y="268224"/>
            <a:ext cx="767777" cy="767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628A71D-A8D6-1E5D-2B30-CB67FEC86673}"/>
              </a:ext>
            </a:extLst>
          </p:cNvPr>
          <p:cNvSpPr txBox="1"/>
          <p:nvPr/>
        </p:nvSpPr>
        <p:spPr>
          <a:xfrm>
            <a:off x="343333" y="1975595"/>
            <a:ext cx="509287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dirty="0">
                <a:latin typeface="Bahnschrift SemiBold SemiConden" panose="020B0502040204020203" pitchFamily="34" charset="0"/>
              </a:rPr>
              <a:t>First APP</a:t>
            </a:r>
            <a:endParaRPr lang="en-IN" sz="7200" dirty="0">
              <a:latin typeface="Bahnschrift SemiBold SemiConden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9FB1CE-EEF5-682D-2AA1-0D10643FED8B}"/>
              </a:ext>
            </a:extLst>
          </p:cNvPr>
          <p:cNvSpPr txBox="1"/>
          <p:nvPr/>
        </p:nvSpPr>
        <p:spPr>
          <a:xfrm>
            <a:off x="343333" y="3137718"/>
            <a:ext cx="8518486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Let’s take a look at the fake API we'll use to fetch data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Create a new project directory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Create a </a:t>
            </a:r>
            <a:r>
              <a:rPr lang="en-US" sz="2800" dirty="0" err="1"/>
              <a:t>package.json</a:t>
            </a:r>
            <a:r>
              <a:rPr lang="en-US" sz="2800" dirty="0"/>
              <a:t> file – </a:t>
            </a:r>
            <a:r>
              <a:rPr lang="en-US" sz="2800" i="1" dirty="0" err="1">
                <a:solidFill>
                  <a:srgbClr val="0070C0"/>
                </a:solidFill>
              </a:rPr>
              <a:t>npm</a:t>
            </a:r>
            <a:r>
              <a:rPr lang="en-US" sz="2800" i="1" dirty="0">
                <a:solidFill>
                  <a:srgbClr val="0070C0"/>
                </a:solidFill>
              </a:rPr>
              <a:t> </a:t>
            </a:r>
            <a:r>
              <a:rPr lang="en-US" sz="2800" i="1" dirty="0" err="1">
                <a:solidFill>
                  <a:srgbClr val="0070C0"/>
                </a:solidFill>
              </a:rPr>
              <a:t>init</a:t>
            </a:r>
            <a:r>
              <a:rPr lang="en-US" sz="2800" i="1" dirty="0">
                <a:solidFill>
                  <a:srgbClr val="0070C0"/>
                </a:solidFill>
              </a:rPr>
              <a:t> -y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Install Axios to make a request – </a:t>
            </a:r>
            <a:r>
              <a:rPr lang="en-US" sz="2800" i="1" dirty="0" err="1">
                <a:solidFill>
                  <a:srgbClr val="0070C0"/>
                </a:solidFill>
              </a:rPr>
              <a:t>npm</a:t>
            </a:r>
            <a:r>
              <a:rPr lang="en-US" sz="2800" i="1" dirty="0">
                <a:solidFill>
                  <a:srgbClr val="0070C0"/>
                </a:solidFill>
              </a:rPr>
              <a:t> install </a:t>
            </a:r>
            <a:r>
              <a:rPr lang="en-US" sz="2800" i="1" dirty="0" err="1">
                <a:solidFill>
                  <a:srgbClr val="0070C0"/>
                </a:solidFill>
              </a:rPr>
              <a:t>axios</a:t>
            </a:r>
            <a:endParaRPr lang="en-US" sz="2800" i="1" dirty="0">
              <a:solidFill>
                <a:srgbClr val="0070C0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Let’s write code!</a:t>
            </a:r>
            <a:endParaRPr lang="en-IN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6E1E17-4F10-434D-CD36-54E67D7A0BAF}"/>
              </a:ext>
            </a:extLst>
          </p:cNvPr>
          <p:cNvSpPr txBox="1"/>
          <p:nvPr/>
        </p:nvSpPr>
        <p:spPr>
          <a:xfrm>
            <a:off x="1013790" y="482602"/>
            <a:ext cx="47164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037DA"/>
                </a:solidFill>
                <a:latin typeface="Segoe UI Variable Text Semibold" pitchFamily="2" charset="0"/>
              </a:rPr>
              <a:t>TypeScript</a:t>
            </a:r>
            <a:endParaRPr lang="en-IN" sz="3600" b="1" dirty="0">
              <a:latin typeface="Bahnschrift SemiBold SemiConden" panose="020B0502040204020203" pitchFamily="34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1460D02-43A6-8064-D62C-4CA7AD0D39D2}"/>
              </a:ext>
            </a:extLst>
          </p:cNvPr>
          <p:cNvSpPr/>
          <p:nvPr/>
        </p:nvSpPr>
        <p:spPr>
          <a:xfrm flipV="1">
            <a:off x="6913749" y="4956842"/>
            <a:ext cx="685800" cy="685800"/>
          </a:xfrm>
          <a:prstGeom prst="ellipse">
            <a:avLst/>
          </a:prstGeom>
          <a:noFill/>
          <a:ln w="4445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E5F3D07-1FE2-78D3-3F11-89CB5880B90A}"/>
              </a:ext>
            </a:extLst>
          </p:cNvPr>
          <p:cNvSpPr/>
          <p:nvPr/>
        </p:nvSpPr>
        <p:spPr>
          <a:xfrm flipV="1">
            <a:off x="9270228" y="2164342"/>
            <a:ext cx="1011582" cy="1011582"/>
          </a:xfrm>
          <a:prstGeom prst="ellipse">
            <a:avLst/>
          </a:prstGeom>
          <a:noFill/>
          <a:ln w="44450">
            <a:solidFill>
              <a:schemeClr val="bg1">
                <a:alpha val="2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087EB98-D45F-635B-64D3-D7423A310C4E}"/>
              </a:ext>
            </a:extLst>
          </p:cNvPr>
          <p:cNvSpPr/>
          <p:nvPr/>
        </p:nvSpPr>
        <p:spPr>
          <a:xfrm flipV="1">
            <a:off x="9270228" y="3471088"/>
            <a:ext cx="531964" cy="531964"/>
          </a:xfrm>
          <a:prstGeom prst="ellipse">
            <a:avLst/>
          </a:prstGeom>
          <a:noFill/>
          <a:ln w="44450">
            <a:solidFill>
              <a:schemeClr val="tx2">
                <a:lumMod val="20000"/>
                <a:lumOff val="8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BB9BF26-DA17-1742-A1A6-F061263141E9}"/>
              </a:ext>
            </a:extLst>
          </p:cNvPr>
          <p:cNvSpPr/>
          <p:nvPr/>
        </p:nvSpPr>
        <p:spPr>
          <a:xfrm flipV="1">
            <a:off x="7989612" y="1412239"/>
            <a:ext cx="309561" cy="309561"/>
          </a:xfrm>
          <a:prstGeom prst="ellipse">
            <a:avLst/>
          </a:prstGeom>
          <a:noFill/>
          <a:ln w="44450">
            <a:solidFill>
              <a:srgbClr val="92D05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4D281AA-FF46-7699-F015-19CD84519506}"/>
              </a:ext>
            </a:extLst>
          </p:cNvPr>
          <p:cNvSpPr/>
          <p:nvPr/>
        </p:nvSpPr>
        <p:spPr>
          <a:xfrm flipV="1">
            <a:off x="11104880" y="3863428"/>
            <a:ext cx="426830" cy="426830"/>
          </a:xfrm>
          <a:prstGeom prst="ellipse">
            <a:avLst/>
          </a:prstGeom>
          <a:noFill/>
          <a:ln w="44450">
            <a:solidFill>
              <a:srgbClr val="FFFF00">
                <a:alpha val="50000"/>
              </a:srgb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0B44455-EC92-F527-D609-6F8E2DFAC628}"/>
              </a:ext>
            </a:extLst>
          </p:cNvPr>
          <p:cNvSpPr/>
          <p:nvPr/>
        </p:nvSpPr>
        <p:spPr>
          <a:xfrm flipV="1">
            <a:off x="10618304" y="5924605"/>
            <a:ext cx="685800" cy="685800"/>
          </a:xfrm>
          <a:prstGeom prst="ellipse">
            <a:avLst/>
          </a:prstGeom>
          <a:noFill/>
          <a:ln w="44450">
            <a:solidFill>
              <a:schemeClr val="accent3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0EEDE7-8A5A-0FA1-2E19-8E41A8594AD4}"/>
              </a:ext>
            </a:extLst>
          </p:cNvPr>
          <p:cNvSpPr txBox="1"/>
          <p:nvPr/>
        </p:nvSpPr>
        <p:spPr>
          <a:xfrm>
            <a:off x="8827825" y="337639"/>
            <a:ext cx="311816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92D050"/>
                </a:solidFill>
                <a:latin typeface="Bahnschrift SemiBold SemiConden" panose="020B0502040204020203" pitchFamily="34" charset="0"/>
              </a:rPr>
              <a:t>Chapter 2</a:t>
            </a:r>
            <a:endParaRPr lang="en-IN" sz="6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4905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0F534A-DE39-3D97-8F21-4EE56C739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023897-2C52-4500-D7F9-0A23F5221C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19142"/>
            <a:ext cx="3720548" cy="438771"/>
          </a:xfrm>
        </p:spPr>
        <p:txBody>
          <a:bodyPr>
            <a:normAutofit fontScale="90000"/>
          </a:bodyPr>
          <a:lstStyle/>
          <a:p>
            <a:pPr algn="l"/>
            <a:r>
              <a:rPr lang="en-US" sz="2400" dirty="0">
                <a:solidFill>
                  <a:schemeClr val="bg1"/>
                </a:solidFill>
              </a:rPr>
              <a:t>Execute typescript – chapter 4</a:t>
            </a:r>
            <a:endParaRPr lang="en-IN" sz="2400" dirty="0">
              <a:solidFill>
                <a:schemeClr val="bg1"/>
              </a:solidFill>
            </a:endParaRPr>
          </a:p>
        </p:txBody>
      </p:sp>
      <p:pic>
        <p:nvPicPr>
          <p:cNvPr id="1026" name="Picture 2" descr="Typescript - Free logo icons">
            <a:extLst>
              <a:ext uri="{FF2B5EF4-FFF2-40B4-BE49-F238E27FC236}">
                <a16:creationId xmlns:a16="http://schemas.microsoft.com/office/drawing/2014/main" id="{128F41F0-15ED-B2B0-543A-1B49A69F8B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014" y="268224"/>
            <a:ext cx="767777" cy="767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11644E-69D3-A4BD-CB9E-E850EF2506F2}"/>
              </a:ext>
            </a:extLst>
          </p:cNvPr>
          <p:cNvSpPr txBox="1"/>
          <p:nvPr/>
        </p:nvSpPr>
        <p:spPr>
          <a:xfrm>
            <a:off x="290647" y="1932712"/>
            <a:ext cx="1161070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dirty="0">
                <a:solidFill>
                  <a:schemeClr val="accent4">
                    <a:lumMod val="60000"/>
                    <a:lumOff val="40000"/>
                  </a:schemeClr>
                </a:solidFill>
                <a:latin typeface="Bahnschrift SemiBold SemiConden" panose="020B0502040204020203" pitchFamily="34" charset="0"/>
              </a:rPr>
              <a:t>Fake API with TypeScript</a:t>
            </a:r>
            <a:br>
              <a:rPr lang="en-US" sz="5400" dirty="0">
                <a:latin typeface="Bahnschrift SemiBold SemiConden" panose="020B0502040204020203" pitchFamily="34" charset="0"/>
              </a:rPr>
            </a:br>
            <a:r>
              <a:rPr lang="en-US" sz="5400" dirty="0">
                <a:latin typeface="Bahnschrift SemiBold SemiConden" panose="020B0502040204020203" pitchFamily="34" charset="0"/>
              </a:rPr>
              <a:t>with Axios and displaying unexpected behavior</a:t>
            </a:r>
            <a:endParaRPr lang="en-IN" sz="5400" dirty="0">
              <a:latin typeface="Bahnschrift SemiBold SemiConden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9E75EB-0B48-A5C2-DCA0-895D0DB326D4}"/>
              </a:ext>
            </a:extLst>
          </p:cNvPr>
          <p:cNvSpPr txBox="1"/>
          <p:nvPr/>
        </p:nvSpPr>
        <p:spPr>
          <a:xfrm>
            <a:off x="1013791" y="482602"/>
            <a:ext cx="25444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037DA"/>
                </a:solidFill>
                <a:latin typeface="Segoe UI Variable Text Semibold" pitchFamily="2" charset="0"/>
              </a:rPr>
              <a:t>TypeScript </a:t>
            </a:r>
            <a:endParaRPr lang="en-IN" sz="3600" b="1" dirty="0">
              <a:latin typeface="Bahnschrift SemiBold SemiConden" panose="020B0502040204020203" pitchFamily="34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70A8F64-4694-F869-E41C-0E9912CF08D1}"/>
              </a:ext>
            </a:extLst>
          </p:cNvPr>
          <p:cNvSpPr/>
          <p:nvPr/>
        </p:nvSpPr>
        <p:spPr>
          <a:xfrm flipV="1">
            <a:off x="6096000" y="4204037"/>
            <a:ext cx="685800" cy="685800"/>
          </a:xfrm>
          <a:prstGeom prst="ellipse">
            <a:avLst/>
          </a:prstGeom>
          <a:noFill/>
          <a:ln w="4445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3E17E00-4493-D6CC-5BD7-404E4915B250}"/>
              </a:ext>
            </a:extLst>
          </p:cNvPr>
          <p:cNvSpPr/>
          <p:nvPr/>
        </p:nvSpPr>
        <p:spPr>
          <a:xfrm flipV="1">
            <a:off x="2877204" y="5852660"/>
            <a:ext cx="414526" cy="414526"/>
          </a:xfrm>
          <a:prstGeom prst="ellipse">
            <a:avLst/>
          </a:prstGeom>
          <a:noFill/>
          <a:ln w="44450">
            <a:solidFill>
              <a:srgbClr val="FFFF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6F09D4C-8ABD-66DA-D8A4-1466D3A90968}"/>
              </a:ext>
            </a:extLst>
          </p:cNvPr>
          <p:cNvSpPr/>
          <p:nvPr/>
        </p:nvSpPr>
        <p:spPr>
          <a:xfrm flipV="1">
            <a:off x="5302307" y="5951508"/>
            <a:ext cx="631355" cy="631355"/>
          </a:xfrm>
          <a:prstGeom prst="ellipse">
            <a:avLst/>
          </a:prstGeom>
          <a:noFill/>
          <a:ln w="44450">
            <a:solidFill>
              <a:schemeClr val="tx2">
                <a:lumMod val="20000"/>
                <a:lumOff val="8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5ACA559-27CF-EC57-42D7-96D3686B6952}"/>
              </a:ext>
            </a:extLst>
          </p:cNvPr>
          <p:cNvSpPr/>
          <p:nvPr/>
        </p:nvSpPr>
        <p:spPr>
          <a:xfrm flipV="1">
            <a:off x="7989612" y="1412239"/>
            <a:ext cx="309561" cy="309561"/>
          </a:xfrm>
          <a:prstGeom prst="ellipse">
            <a:avLst/>
          </a:prstGeom>
          <a:noFill/>
          <a:ln w="44450">
            <a:solidFill>
              <a:schemeClr val="accent5">
                <a:lumMod val="60000"/>
                <a:lumOff val="40000"/>
                <a:alpha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75E0FAC-2AE2-1385-3569-078F5AD2B9EF}"/>
              </a:ext>
            </a:extLst>
          </p:cNvPr>
          <p:cNvSpPr/>
          <p:nvPr/>
        </p:nvSpPr>
        <p:spPr>
          <a:xfrm flipV="1">
            <a:off x="10635802" y="4225956"/>
            <a:ext cx="426830" cy="426830"/>
          </a:xfrm>
          <a:prstGeom prst="ellipse">
            <a:avLst/>
          </a:prstGeom>
          <a:noFill/>
          <a:ln w="44450">
            <a:solidFill>
              <a:srgbClr val="FFFF00">
                <a:alpha val="50000"/>
              </a:srgb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83563EBF-DD58-EA74-8FE4-6AC01377CFB8}"/>
              </a:ext>
            </a:extLst>
          </p:cNvPr>
          <p:cNvSpPr/>
          <p:nvPr/>
        </p:nvSpPr>
        <p:spPr>
          <a:xfrm flipV="1">
            <a:off x="8900272" y="5166860"/>
            <a:ext cx="685800" cy="685800"/>
          </a:xfrm>
          <a:prstGeom prst="ellipse">
            <a:avLst/>
          </a:prstGeom>
          <a:noFill/>
          <a:ln w="44450">
            <a:solidFill>
              <a:srgbClr val="00B0F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74CD70-6466-6617-2F07-CE90E7D1CADB}"/>
              </a:ext>
            </a:extLst>
          </p:cNvPr>
          <p:cNvSpPr txBox="1"/>
          <p:nvPr/>
        </p:nvSpPr>
        <p:spPr>
          <a:xfrm>
            <a:off x="8658346" y="268224"/>
            <a:ext cx="311816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92D050"/>
                </a:solidFill>
                <a:latin typeface="Bahnschrift SemiBold SemiConden" panose="020B0502040204020203" pitchFamily="34" charset="0"/>
              </a:rPr>
              <a:t>Chapter 2</a:t>
            </a:r>
            <a:endParaRPr lang="en-IN" sz="6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22454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DDDE07-FA8A-6BE6-FD68-CCF0921BC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0D877-D4AE-12E5-BC7E-3C67A617D8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19142"/>
            <a:ext cx="3720548" cy="438771"/>
          </a:xfrm>
        </p:spPr>
        <p:txBody>
          <a:bodyPr>
            <a:normAutofit/>
          </a:bodyPr>
          <a:lstStyle/>
          <a:p>
            <a:pPr algn="l"/>
            <a:r>
              <a:rPr lang="en-US" sz="2400" dirty="0">
                <a:solidFill>
                  <a:schemeClr val="bg1"/>
                </a:solidFill>
              </a:rPr>
              <a:t>Catching Errors – chapter 5</a:t>
            </a:r>
            <a:endParaRPr lang="en-IN" sz="2400" dirty="0">
              <a:solidFill>
                <a:schemeClr val="bg1"/>
              </a:solidFill>
            </a:endParaRPr>
          </a:p>
        </p:txBody>
      </p:sp>
      <p:pic>
        <p:nvPicPr>
          <p:cNvPr id="1026" name="Picture 2" descr="Typescript - Free logo icons">
            <a:extLst>
              <a:ext uri="{FF2B5EF4-FFF2-40B4-BE49-F238E27FC236}">
                <a16:creationId xmlns:a16="http://schemas.microsoft.com/office/drawing/2014/main" id="{8A32D310-A007-D077-73D4-E37239A893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014" y="268224"/>
            <a:ext cx="767777" cy="767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F1CC82D-CDA7-ADEE-7B0D-EEB74B875944}"/>
              </a:ext>
            </a:extLst>
          </p:cNvPr>
          <p:cNvSpPr txBox="1"/>
          <p:nvPr/>
        </p:nvSpPr>
        <p:spPr>
          <a:xfrm>
            <a:off x="290647" y="2230829"/>
            <a:ext cx="1161070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>
                <a:latin typeface="Bahnschrift SemiBold SemiConden" panose="020B0502040204020203" pitchFamily="34" charset="0"/>
              </a:rPr>
              <a:t>Write the first code and</a:t>
            </a:r>
            <a:br>
              <a:rPr lang="en-US" sz="7200" dirty="0">
                <a:latin typeface="Bahnschrift SemiBold SemiConden" panose="020B0502040204020203" pitchFamily="34" charset="0"/>
              </a:rPr>
            </a:br>
            <a:r>
              <a:rPr lang="en-US" sz="7200" dirty="0">
                <a:latin typeface="Bahnschrift SemiBold SemiConden" panose="020B0502040204020203" pitchFamily="34" charset="0"/>
              </a:rPr>
              <a:t>Catch Basic </a:t>
            </a:r>
            <a:r>
              <a:rPr lang="en-US" sz="7200" dirty="0">
                <a:solidFill>
                  <a:srgbClr val="C00000"/>
                </a:solidFill>
                <a:latin typeface="Bahnschrift SemiBold SemiConden" panose="020B0502040204020203" pitchFamily="34" charset="0"/>
              </a:rPr>
              <a:t>Errors</a:t>
            </a:r>
          </a:p>
          <a:p>
            <a:pPr algn="ctr"/>
            <a:r>
              <a:rPr lang="en-US" sz="4800" dirty="0">
                <a:solidFill>
                  <a:schemeClr val="tx1">
                    <a:lumMod val="50000"/>
                    <a:lumOff val="50000"/>
                  </a:schemeClr>
                </a:solidFill>
                <a:latin typeface="Bahnschrift SemiBold SemiConden" panose="020B0502040204020203" pitchFamily="34" charset="0"/>
              </a:rPr>
              <a:t>From my first APP</a:t>
            </a:r>
            <a:endParaRPr lang="en-IN" sz="4800" dirty="0">
              <a:solidFill>
                <a:schemeClr val="tx1">
                  <a:lumMod val="50000"/>
                  <a:lumOff val="50000"/>
                </a:schemeClr>
              </a:solidFill>
              <a:latin typeface="Bahnschrift SemiBold SemiConden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EFC8CE-F9DC-9C92-11C0-F7DAA2685B15}"/>
              </a:ext>
            </a:extLst>
          </p:cNvPr>
          <p:cNvSpPr txBox="1"/>
          <p:nvPr/>
        </p:nvSpPr>
        <p:spPr>
          <a:xfrm>
            <a:off x="1013791" y="482602"/>
            <a:ext cx="4993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037DA"/>
                </a:solidFill>
                <a:latin typeface="Segoe UI Variable Text Semibold" pitchFamily="2" charset="0"/>
              </a:rPr>
              <a:t>TypeScript</a:t>
            </a:r>
            <a:endParaRPr lang="en-IN" sz="3600" b="1" dirty="0">
              <a:latin typeface="Bahnschrift SemiBold SemiConden" panose="020B0502040204020203" pitchFamily="34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FD07AFB-EFC4-D253-D8EE-D498A149BD51}"/>
              </a:ext>
            </a:extLst>
          </p:cNvPr>
          <p:cNvSpPr/>
          <p:nvPr/>
        </p:nvSpPr>
        <p:spPr>
          <a:xfrm flipV="1">
            <a:off x="670891" y="3257970"/>
            <a:ext cx="685800" cy="685800"/>
          </a:xfrm>
          <a:prstGeom prst="ellipse">
            <a:avLst/>
          </a:prstGeom>
          <a:noFill/>
          <a:ln w="4445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FB1A13D-3D4C-7C89-228D-0AE5235B2650}"/>
              </a:ext>
            </a:extLst>
          </p:cNvPr>
          <p:cNvSpPr/>
          <p:nvPr/>
        </p:nvSpPr>
        <p:spPr>
          <a:xfrm flipV="1">
            <a:off x="2877204" y="5852660"/>
            <a:ext cx="414526" cy="414526"/>
          </a:xfrm>
          <a:prstGeom prst="ellipse">
            <a:avLst/>
          </a:prstGeom>
          <a:noFill/>
          <a:ln w="44450">
            <a:solidFill>
              <a:srgbClr val="FFFF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DED1C2B-68C6-6B42-DD1B-AC40CB62AE9D}"/>
              </a:ext>
            </a:extLst>
          </p:cNvPr>
          <p:cNvSpPr/>
          <p:nvPr/>
        </p:nvSpPr>
        <p:spPr>
          <a:xfrm flipV="1">
            <a:off x="10495225" y="2109968"/>
            <a:ext cx="353992" cy="353992"/>
          </a:xfrm>
          <a:prstGeom prst="ellipse">
            <a:avLst/>
          </a:prstGeom>
          <a:noFill/>
          <a:ln w="44450">
            <a:solidFill>
              <a:schemeClr val="tx2">
                <a:lumMod val="20000"/>
                <a:lumOff val="8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D7F093B-092F-BE6D-9932-849D2A55998B}"/>
              </a:ext>
            </a:extLst>
          </p:cNvPr>
          <p:cNvSpPr/>
          <p:nvPr/>
        </p:nvSpPr>
        <p:spPr>
          <a:xfrm flipV="1">
            <a:off x="7989612" y="1412239"/>
            <a:ext cx="309561" cy="309561"/>
          </a:xfrm>
          <a:prstGeom prst="ellipse">
            <a:avLst/>
          </a:prstGeom>
          <a:noFill/>
          <a:ln w="44450">
            <a:solidFill>
              <a:schemeClr val="accent5">
                <a:lumMod val="60000"/>
                <a:lumOff val="40000"/>
                <a:alpha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43ED891-4A52-EC2B-4B2F-908145579373}"/>
              </a:ext>
            </a:extLst>
          </p:cNvPr>
          <p:cNvSpPr/>
          <p:nvPr/>
        </p:nvSpPr>
        <p:spPr>
          <a:xfrm flipV="1">
            <a:off x="10635802" y="4225956"/>
            <a:ext cx="426830" cy="426830"/>
          </a:xfrm>
          <a:prstGeom prst="ellipse">
            <a:avLst/>
          </a:prstGeom>
          <a:noFill/>
          <a:ln w="44450">
            <a:solidFill>
              <a:srgbClr val="FFFF00">
                <a:alpha val="50000"/>
              </a:srgb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209794B-2B18-CC9A-242E-1674E8CF155F}"/>
              </a:ext>
            </a:extLst>
          </p:cNvPr>
          <p:cNvSpPr/>
          <p:nvPr/>
        </p:nvSpPr>
        <p:spPr>
          <a:xfrm flipV="1">
            <a:off x="7303812" y="5686019"/>
            <a:ext cx="685800" cy="685800"/>
          </a:xfrm>
          <a:prstGeom prst="ellipse">
            <a:avLst/>
          </a:prstGeom>
          <a:noFill/>
          <a:ln w="44450">
            <a:solidFill>
              <a:srgbClr val="00B0F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9D6F02-EC66-DB0C-A18D-86F47190CF32}"/>
              </a:ext>
            </a:extLst>
          </p:cNvPr>
          <p:cNvSpPr txBox="1"/>
          <p:nvPr/>
        </p:nvSpPr>
        <p:spPr>
          <a:xfrm>
            <a:off x="8520130" y="297935"/>
            <a:ext cx="311816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92D050"/>
                </a:solidFill>
                <a:latin typeface="Bahnschrift SemiBold SemiConden" panose="020B0502040204020203" pitchFamily="34" charset="0"/>
              </a:rPr>
              <a:t>Chapter 2</a:t>
            </a:r>
            <a:endParaRPr lang="en-IN" sz="6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95475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9DCFFA-1052-D13D-9C9D-E1BEE1270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426C45-4227-7718-D182-565F768C7C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19142"/>
            <a:ext cx="3720548" cy="438771"/>
          </a:xfrm>
        </p:spPr>
        <p:txBody>
          <a:bodyPr>
            <a:normAutofit/>
          </a:bodyPr>
          <a:lstStyle/>
          <a:p>
            <a:pPr algn="l"/>
            <a:r>
              <a:rPr lang="en-US" sz="2400" dirty="0">
                <a:solidFill>
                  <a:schemeClr val="bg1"/>
                </a:solidFill>
              </a:rPr>
              <a:t>Catching Errors – chapter 5</a:t>
            </a:r>
            <a:endParaRPr lang="en-IN" sz="2400" dirty="0">
              <a:solidFill>
                <a:schemeClr val="bg1"/>
              </a:solidFill>
            </a:endParaRPr>
          </a:p>
        </p:txBody>
      </p:sp>
      <p:pic>
        <p:nvPicPr>
          <p:cNvPr id="1026" name="Picture 2" descr="Typescript - Free logo icons">
            <a:extLst>
              <a:ext uri="{FF2B5EF4-FFF2-40B4-BE49-F238E27FC236}">
                <a16:creationId xmlns:a16="http://schemas.microsoft.com/office/drawing/2014/main" id="{B7CEFBBB-CEB4-A740-8DB7-C5D7891676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014" y="268224"/>
            <a:ext cx="767777" cy="767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93DD96-FA47-4058-752B-0B3DAC841848}"/>
              </a:ext>
            </a:extLst>
          </p:cNvPr>
          <p:cNvSpPr txBox="1"/>
          <p:nvPr/>
        </p:nvSpPr>
        <p:spPr>
          <a:xfrm>
            <a:off x="201622" y="2004778"/>
            <a:ext cx="1161070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>
                <a:latin typeface="Bahnschrift SemiBold SemiConden" panose="020B0502040204020203" pitchFamily="34" charset="0"/>
              </a:rPr>
              <a:t>Syntax and Design pattern</a:t>
            </a:r>
            <a:endParaRPr lang="en-US" sz="7200" dirty="0">
              <a:solidFill>
                <a:srgbClr val="C00000"/>
              </a:solidFill>
              <a:latin typeface="Bahnschrift SemiBold SemiConden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601266-FC1A-3F6D-2296-67EECD3F7828}"/>
              </a:ext>
            </a:extLst>
          </p:cNvPr>
          <p:cNvSpPr txBox="1"/>
          <p:nvPr/>
        </p:nvSpPr>
        <p:spPr>
          <a:xfrm>
            <a:off x="1013791" y="482602"/>
            <a:ext cx="4993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037DA"/>
                </a:solidFill>
                <a:latin typeface="Segoe UI Variable Text Semibold" pitchFamily="2" charset="0"/>
              </a:rPr>
              <a:t>TypeScript</a:t>
            </a:r>
            <a:endParaRPr lang="en-IN" sz="3600" b="1" dirty="0">
              <a:latin typeface="Bahnschrift SemiBold SemiConden" panose="020B0502040204020203" pitchFamily="34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1AD3CF5-9568-4102-449E-081A8ADFD74B}"/>
              </a:ext>
            </a:extLst>
          </p:cNvPr>
          <p:cNvSpPr/>
          <p:nvPr/>
        </p:nvSpPr>
        <p:spPr>
          <a:xfrm flipV="1">
            <a:off x="670891" y="3257970"/>
            <a:ext cx="685800" cy="685800"/>
          </a:xfrm>
          <a:prstGeom prst="ellipse">
            <a:avLst/>
          </a:prstGeom>
          <a:noFill/>
          <a:ln w="4445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0B71919-F3D5-58CD-6C7D-6A3C06E091CC}"/>
              </a:ext>
            </a:extLst>
          </p:cNvPr>
          <p:cNvSpPr/>
          <p:nvPr/>
        </p:nvSpPr>
        <p:spPr>
          <a:xfrm flipV="1">
            <a:off x="2877204" y="5852660"/>
            <a:ext cx="414526" cy="414526"/>
          </a:xfrm>
          <a:prstGeom prst="ellipse">
            <a:avLst/>
          </a:prstGeom>
          <a:noFill/>
          <a:ln w="44450">
            <a:solidFill>
              <a:srgbClr val="FFFF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B9C82BF-8A94-286F-BAEC-73CFDA0CA438}"/>
              </a:ext>
            </a:extLst>
          </p:cNvPr>
          <p:cNvSpPr/>
          <p:nvPr/>
        </p:nvSpPr>
        <p:spPr>
          <a:xfrm flipV="1">
            <a:off x="9725219" y="2974274"/>
            <a:ext cx="353992" cy="353992"/>
          </a:xfrm>
          <a:prstGeom prst="ellipse">
            <a:avLst/>
          </a:prstGeom>
          <a:noFill/>
          <a:ln w="44450">
            <a:solidFill>
              <a:schemeClr val="tx2">
                <a:lumMod val="20000"/>
                <a:lumOff val="8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F0A3B02-B5A2-1F21-7B1F-9D473BC9EEAA}"/>
              </a:ext>
            </a:extLst>
          </p:cNvPr>
          <p:cNvSpPr/>
          <p:nvPr/>
        </p:nvSpPr>
        <p:spPr>
          <a:xfrm flipV="1">
            <a:off x="7989612" y="1412239"/>
            <a:ext cx="309561" cy="309561"/>
          </a:xfrm>
          <a:prstGeom prst="ellipse">
            <a:avLst/>
          </a:prstGeom>
          <a:noFill/>
          <a:ln w="44450">
            <a:solidFill>
              <a:schemeClr val="accent5">
                <a:lumMod val="60000"/>
                <a:lumOff val="40000"/>
                <a:alpha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AC8678E-6524-51FF-B752-B71CA06CF34D}"/>
              </a:ext>
            </a:extLst>
          </p:cNvPr>
          <p:cNvSpPr/>
          <p:nvPr/>
        </p:nvSpPr>
        <p:spPr>
          <a:xfrm flipV="1">
            <a:off x="10635802" y="4225956"/>
            <a:ext cx="426830" cy="426830"/>
          </a:xfrm>
          <a:prstGeom prst="ellipse">
            <a:avLst/>
          </a:prstGeom>
          <a:noFill/>
          <a:ln w="44450">
            <a:solidFill>
              <a:srgbClr val="FFFF00">
                <a:alpha val="50000"/>
              </a:srgb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A172889-9A35-5681-0E7D-FF7E462D5F50}"/>
              </a:ext>
            </a:extLst>
          </p:cNvPr>
          <p:cNvSpPr/>
          <p:nvPr/>
        </p:nvSpPr>
        <p:spPr>
          <a:xfrm flipV="1">
            <a:off x="7303812" y="5686019"/>
            <a:ext cx="685800" cy="685800"/>
          </a:xfrm>
          <a:prstGeom prst="ellipse">
            <a:avLst/>
          </a:prstGeom>
          <a:noFill/>
          <a:ln w="44450">
            <a:solidFill>
              <a:srgbClr val="00B0F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99F4C1-2229-A670-6571-0241F2D2FB54}"/>
              </a:ext>
            </a:extLst>
          </p:cNvPr>
          <p:cNvSpPr txBox="1"/>
          <p:nvPr/>
        </p:nvSpPr>
        <p:spPr>
          <a:xfrm>
            <a:off x="8520130" y="297935"/>
            <a:ext cx="311816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92D050"/>
                </a:solidFill>
                <a:latin typeface="Bahnschrift SemiBold SemiConden" panose="020B0502040204020203" pitchFamily="34" charset="0"/>
              </a:rPr>
              <a:t>Chapter 2</a:t>
            </a:r>
            <a:endParaRPr lang="en-IN" sz="6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2295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F96E62-27C5-06B2-E300-6220370B2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22BA3-2A6E-B991-E17B-428639E771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19142"/>
            <a:ext cx="3720548" cy="438771"/>
          </a:xfrm>
        </p:spPr>
        <p:txBody>
          <a:bodyPr>
            <a:normAutofit/>
          </a:bodyPr>
          <a:lstStyle/>
          <a:p>
            <a:pPr algn="l"/>
            <a:r>
              <a:rPr lang="en-US" sz="2400" dirty="0">
                <a:solidFill>
                  <a:schemeClr val="bg1"/>
                </a:solidFill>
              </a:rPr>
              <a:t>Types – chapter 6</a:t>
            </a:r>
            <a:endParaRPr lang="en-IN" sz="2400" dirty="0">
              <a:solidFill>
                <a:schemeClr val="bg1"/>
              </a:solidFill>
            </a:endParaRPr>
          </a:p>
        </p:txBody>
      </p:sp>
      <p:pic>
        <p:nvPicPr>
          <p:cNvPr id="1026" name="Picture 2" descr="Typescript - Free logo icons">
            <a:extLst>
              <a:ext uri="{FF2B5EF4-FFF2-40B4-BE49-F238E27FC236}">
                <a16:creationId xmlns:a16="http://schemas.microsoft.com/office/drawing/2014/main" id="{60ED6E10-E099-9CB5-DA73-C29495E51B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014" y="268224"/>
            <a:ext cx="767777" cy="767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2C3EF6B-6CDA-52B2-DB7D-2C7B3E0CEC8D}"/>
              </a:ext>
            </a:extLst>
          </p:cNvPr>
          <p:cNvSpPr txBox="1"/>
          <p:nvPr/>
        </p:nvSpPr>
        <p:spPr>
          <a:xfrm>
            <a:off x="2564439" y="2213282"/>
            <a:ext cx="7413329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600" b="1" dirty="0">
                <a:solidFill>
                  <a:schemeClr val="accent1"/>
                </a:solidFill>
                <a:latin typeface="Bahnschrift SemiBold SemiConden" panose="020B0502040204020203" pitchFamily="34" charset="0"/>
              </a:rPr>
              <a:t>Types</a:t>
            </a:r>
          </a:p>
          <a:p>
            <a:pPr algn="ctr"/>
            <a:r>
              <a:rPr lang="en-US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Trebuchet MS" panose="020B0603020202020204" pitchFamily="34" charset="0"/>
              </a:rPr>
              <a:t>A way to define what kind of value we are going to set in a variable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9A3B24-4E4A-4A93-F63A-DE9D0EC22E52}"/>
              </a:ext>
            </a:extLst>
          </p:cNvPr>
          <p:cNvSpPr txBox="1"/>
          <p:nvPr/>
        </p:nvSpPr>
        <p:spPr>
          <a:xfrm>
            <a:off x="1013791" y="482602"/>
            <a:ext cx="4993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037DA"/>
                </a:solidFill>
                <a:latin typeface="Segoe UI Variable Text Semibold" pitchFamily="2" charset="0"/>
              </a:rPr>
              <a:t>TypeScript</a:t>
            </a:r>
            <a:endParaRPr lang="en-IN" sz="3600" b="1" dirty="0">
              <a:latin typeface="Bahnschrift SemiBold SemiConden" panose="020B0502040204020203" pitchFamily="34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41E5781-1777-2F73-8FE3-0B30D48BB37C}"/>
              </a:ext>
            </a:extLst>
          </p:cNvPr>
          <p:cNvSpPr/>
          <p:nvPr/>
        </p:nvSpPr>
        <p:spPr>
          <a:xfrm flipV="1">
            <a:off x="8959007" y="4764693"/>
            <a:ext cx="413593" cy="413593"/>
          </a:xfrm>
          <a:prstGeom prst="ellipse">
            <a:avLst/>
          </a:prstGeom>
          <a:noFill/>
          <a:ln w="4445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19DC0AD-413A-71CF-0CCA-5D9B2E223E7E}"/>
              </a:ext>
            </a:extLst>
          </p:cNvPr>
          <p:cNvSpPr/>
          <p:nvPr/>
        </p:nvSpPr>
        <p:spPr>
          <a:xfrm flipV="1">
            <a:off x="11174385" y="2334959"/>
            <a:ext cx="414526" cy="414526"/>
          </a:xfrm>
          <a:prstGeom prst="ellipse">
            <a:avLst/>
          </a:prstGeom>
          <a:noFill/>
          <a:ln w="44450">
            <a:solidFill>
              <a:srgbClr val="FFFF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837B718-B105-70D4-94E9-08D774031983}"/>
              </a:ext>
            </a:extLst>
          </p:cNvPr>
          <p:cNvSpPr/>
          <p:nvPr/>
        </p:nvSpPr>
        <p:spPr>
          <a:xfrm flipV="1">
            <a:off x="1282148" y="2496452"/>
            <a:ext cx="506066" cy="506066"/>
          </a:xfrm>
          <a:prstGeom prst="ellipse">
            <a:avLst/>
          </a:prstGeom>
          <a:noFill/>
          <a:ln w="44450">
            <a:solidFill>
              <a:schemeClr val="tx2">
                <a:lumMod val="20000"/>
                <a:lumOff val="8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2A35FB7-FFA8-D669-3078-2E91CFE1EFAF}"/>
              </a:ext>
            </a:extLst>
          </p:cNvPr>
          <p:cNvSpPr/>
          <p:nvPr/>
        </p:nvSpPr>
        <p:spPr>
          <a:xfrm flipV="1">
            <a:off x="6074673" y="1322058"/>
            <a:ext cx="309561" cy="309561"/>
          </a:xfrm>
          <a:prstGeom prst="ellipse">
            <a:avLst/>
          </a:prstGeom>
          <a:noFill/>
          <a:ln w="44450">
            <a:solidFill>
              <a:schemeClr val="accent5">
                <a:lumMod val="60000"/>
                <a:lumOff val="40000"/>
                <a:alpha val="5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994C6E0-2044-0B92-7FCE-0FD7B918C300}"/>
              </a:ext>
            </a:extLst>
          </p:cNvPr>
          <p:cNvSpPr/>
          <p:nvPr/>
        </p:nvSpPr>
        <p:spPr>
          <a:xfrm flipV="1">
            <a:off x="10635802" y="4225956"/>
            <a:ext cx="426830" cy="426830"/>
          </a:xfrm>
          <a:prstGeom prst="ellipse">
            <a:avLst/>
          </a:prstGeom>
          <a:noFill/>
          <a:ln w="44450">
            <a:solidFill>
              <a:srgbClr val="FFFF00">
                <a:alpha val="50000"/>
              </a:srgb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5378AC7-5F1C-88E3-AFCA-770F1F793F6E}"/>
              </a:ext>
            </a:extLst>
          </p:cNvPr>
          <p:cNvSpPr/>
          <p:nvPr/>
        </p:nvSpPr>
        <p:spPr>
          <a:xfrm flipV="1">
            <a:off x="8333022" y="2301355"/>
            <a:ext cx="448130" cy="448130"/>
          </a:xfrm>
          <a:prstGeom prst="ellipse">
            <a:avLst/>
          </a:prstGeom>
          <a:noFill/>
          <a:ln w="44450">
            <a:solidFill>
              <a:srgbClr val="00B0F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DAAE53D-0F4F-1A34-58C3-A56CE64562C6}"/>
              </a:ext>
            </a:extLst>
          </p:cNvPr>
          <p:cNvSpPr/>
          <p:nvPr/>
        </p:nvSpPr>
        <p:spPr>
          <a:xfrm flipV="1">
            <a:off x="8079989" y="596026"/>
            <a:ext cx="506066" cy="506066"/>
          </a:xfrm>
          <a:prstGeom prst="ellipse">
            <a:avLst/>
          </a:prstGeom>
          <a:noFill/>
          <a:ln w="4445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B62DDF3-425F-04D7-A6D4-987BB2208A3C}"/>
              </a:ext>
            </a:extLst>
          </p:cNvPr>
          <p:cNvSpPr/>
          <p:nvPr/>
        </p:nvSpPr>
        <p:spPr>
          <a:xfrm flipV="1">
            <a:off x="10310991" y="5862445"/>
            <a:ext cx="344574" cy="344574"/>
          </a:xfrm>
          <a:prstGeom prst="ellipse">
            <a:avLst/>
          </a:prstGeom>
          <a:noFill/>
          <a:ln w="44450">
            <a:solidFill>
              <a:srgbClr val="FFFF00">
                <a:alpha val="50000"/>
              </a:srgb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E70DB7-E261-E680-7E78-64FB91966DBC}"/>
              </a:ext>
            </a:extLst>
          </p:cNvPr>
          <p:cNvSpPr txBox="1"/>
          <p:nvPr/>
        </p:nvSpPr>
        <p:spPr>
          <a:xfrm>
            <a:off x="8827825" y="288785"/>
            <a:ext cx="311816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92D050"/>
                </a:solidFill>
                <a:latin typeface="Bahnschrift SemiBold SemiConden" panose="020B0502040204020203" pitchFamily="34" charset="0"/>
              </a:rPr>
              <a:t>Chapter 3</a:t>
            </a:r>
            <a:endParaRPr lang="en-IN" sz="6000" dirty="0">
              <a:solidFill>
                <a:srgbClr val="92D05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0DD88F9-7BF8-983A-322D-32E6E93D8AA2}"/>
              </a:ext>
            </a:extLst>
          </p:cNvPr>
          <p:cNvSpPr/>
          <p:nvPr/>
        </p:nvSpPr>
        <p:spPr>
          <a:xfrm flipV="1">
            <a:off x="1328384" y="5862445"/>
            <a:ext cx="413593" cy="413593"/>
          </a:xfrm>
          <a:prstGeom prst="ellipse">
            <a:avLst/>
          </a:prstGeom>
          <a:noFill/>
          <a:ln w="4445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8D1384E-C1F6-DEA6-5C8C-9CE749F18C06}"/>
              </a:ext>
            </a:extLst>
          </p:cNvPr>
          <p:cNvSpPr/>
          <p:nvPr/>
        </p:nvSpPr>
        <p:spPr>
          <a:xfrm flipV="1">
            <a:off x="3513285" y="1296070"/>
            <a:ext cx="414526" cy="414526"/>
          </a:xfrm>
          <a:prstGeom prst="ellipse">
            <a:avLst/>
          </a:prstGeom>
          <a:noFill/>
          <a:ln w="44450">
            <a:solidFill>
              <a:srgbClr val="FFFF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30FFF91-98A7-151E-4E0D-420C21C68611}"/>
              </a:ext>
            </a:extLst>
          </p:cNvPr>
          <p:cNvSpPr/>
          <p:nvPr/>
        </p:nvSpPr>
        <p:spPr>
          <a:xfrm flipV="1">
            <a:off x="6882124" y="6016125"/>
            <a:ext cx="426830" cy="426830"/>
          </a:xfrm>
          <a:prstGeom prst="ellipse">
            <a:avLst/>
          </a:prstGeom>
          <a:noFill/>
          <a:ln w="44450">
            <a:solidFill>
              <a:srgbClr val="FFFF00">
                <a:alpha val="50000"/>
              </a:srgb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9367660-3241-BAE8-B62E-FC3DF88D001F}"/>
              </a:ext>
            </a:extLst>
          </p:cNvPr>
          <p:cNvSpPr/>
          <p:nvPr/>
        </p:nvSpPr>
        <p:spPr>
          <a:xfrm flipV="1">
            <a:off x="3927811" y="5307777"/>
            <a:ext cx="448130" cy="448130"/>
          </a:xfrm>
          <a:prstGeom prst="ellipse">
            <a:avLst/>
          </a:prstGeom>
          <a:noFill/>
          <a:ln w="44450">
            <a:solidFill>
              <a:srgbClr val="00B0F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48976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F3A813-3C85-DCCC-2561-48582DCD6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8E9FD-5E37-6D3E-1356-574B2C6106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19142"/>
            <a:ext cx="3720548" cy="438771"/>
          </a:xfrm>
        </p:spPr>
        <p:txBody>
          <a:bodyPr>
            <a:normAutofit/>
          </a:bodyPr>
          <a:lstStyle/>
          <a:p>
            <a:pPr algn="l"/>
            <a:r>
              <a:rPr lang="en-US" sz="2400" dirty="0">
                <a:solidFill>
                  <a:schemeClr val="bg1"/>
                </a:solidFill>
              </a:rPr>
              <a:t>Types – chapter 6</a:t>
            </a:r>
            <a:endParaRPr lang="en-IN" sz="2400" dirty="0">
              <a:solidFill>
                <a:schemeClr val="bg1"/>
              </a:solidFill>
            </a:endParaRPr>
          </a:p>
        </p:txBody>
      </p:sp>
      <p:pic>
        <p:nvPicPr>
          <p:cNvPr id="1026" name="Picture 2" descr="Typescript - Free logo icons">
            <a:extLst>
              <a:ext uri="{FF2B5EF4-FFF2-40B4-BE49-F238E27FC236}">
                <a16:creationId xmlns:a16="http://schemas.microsoft.com/office/drawing/2014/main" id="{DDBBD34A-D013-D911-C9E5-7A719B133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014" y="268224"/>
            <a:ext cx="767777" cy="767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8048466-F860-A3F0-9596-441DC5981AAD}"/>
              </a:ext>
            </a:extLst>
          </p:cNvPr>
          <p:cNvSpPr txBox="1"/>
          <p:nvPr/>
        </p:nvSpPr>
        <p:spPr>
          <a:xfrm>
            <a:off x="1013791" y="482602"/>
            <a:ext cx="4993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037DA"/>
                </a:solidFill>
                <a:latin typeface="Segoe UI Variable Text Semibold" pitchFamily="2" charset="0"/>
              </a:rPr>
              <a:t>TypeScript</a:t>
            </a:r>
            <a:endParaRPr lang="en-IN" sz="3600" b="1" dirty="0">
              <a:latin typeface="Bahnschrift SemiBold SemiConden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29B37C-9929-3708-B835-10FC9653EB36}"/>
              </a:ext>
            </a:extLst>
          </p:cNvPr>
          <p:cNvSpPr txBox="1"/>
          <p:nvPr/>
        </p:nvSpPr>
        <p:spPr>
          <a:xfrm>
            <a:off x="8827825" y="288785"/>
            <a:ext cx="311816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92D050"/>
                </a:solidFill>
                <a:latin typeface="Bahnschrift SemiBold SemiConden" panose="020B0502040204020203" pitchFamily="34" charset="0"/>
              </a:rPr>
              <a:t>Chapter 3</a:t>
            </a:r>
            <a:endParaRPr lang="en-IN" sz="6000" dirty="0">
              <a:solidFill>
                <a:srgbClr val="92D050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64B6DEA-8712-CF0E-E7D1-A089B22F8C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9517" y="1353261"/>
            <a:ext cx="8726992" cy="5022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6983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471D9E-3809-7379-ED66-33A3B8EA7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809C6-6BEE-D58B-7476-0F534B871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19142"/>
            <a:ext cx="3720548" cy="438771"/>
          </a:xfrm>
        </p:spPr>
        <p:txBody>
          <a:bodyPr>
            <a:normAutofit/>
          </a:bodyPr>
          <a:lstStyle/>
          <a:p>
            <a:pPr algn="l"/>
            <a:r>
              <a:rPr lang="en-US" sz="2400" dirty="0">
                <a:solidFill>
                  <a:schemeClr val="bg1"/>
                </a:solidFill>
              </a:rPr>
              <a:t>Types – chapter 6</a:t>
            </a:r>
            <a:endParaRPr lang="en-IN" sz="2400" dirty="0">
              <a:solidFill>
                <a:schemeClr val="bg1"/>
              </a:solidFill>
            </a:endParaRPr>
          </a:p>
        </p:txBody>
      </p:sp>
      <p:pic>
        <p:nvPicPr>
          <p:cNvPr id="1026" name="Picture 2" descr="Typescript - Free logo icons">
            <a:extLst>
              <a:ext uri="{FF2B5EF4-FFF2-40B4-BE49-F238E27FC236}">
                <a16:creationId xmlns:a16="http://schemas.microsoft.com/office/drawing/2014/main" id="{9A5697C6-56B6-E6D8-C43F-7D6926EC16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014" y="268224"/>
            <a:ext cx="767777" cy="767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371C8C1-C14D-453F-43D6-0817F65915F3}"/>
              </a:ext>
            </a:extLst>
          </p:cNvPr>
          <p:cNvSpPr txBox="1"/>
          <p:nvPr/>
        </p:nvSpPr>
        <p:spPr>
          <a:xfrm>
            <a:off x="1013791" y="482602"/>
            <a:ext cx="4993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037DA"/>
                </a:solidFill>
                <a:latin typeface="Segoe UI Variable Text Semibold" pitchFamily="2" charset="0"/>
              </a:rPr>
              <a:t>TypeScript</a:t>
            </a:r>
            <a:endParaRPr lang="en-IN" sz="3600" b="1" dirty="0">
              <a:latin typeface="Bahnschrift SemiBold SemiConden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F5428E-8182-1752-9B83-198E076EDA25}"/>
              </a:ext>
            </a:extLst>
          </p:cNvPr>
          <p:cNvSpPr txBox="1"/>
          <p:nvPr/>
        </p:nvSpPr>
        <p:spPr>
          <a:xfrm>
            <a:off x="8827825" y="288785"/>
            <a:ext cx="311816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92D050"/>
                </a:solidFill>
                <a:latin typeface="Bahnschrift SemiBold SemiConden" panose="020B0502040204020203" pitchFamily="34" charset="0"/>
              </a:rPr>
              <a:t>Chapter 3</a:t>
            </a:r>
            <a:endParaRPr lang="en-IN" sz="6000" dirty="0">
              <a:solidFill>
                <a:srgbClr val="92D050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34296C4-5814-8154-A8D2-A8B80F7F04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161" y="2294417"/>
            <a:ext cx="10611678" cy="3740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5107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C473D8-B99A-B4CA-38F3-8A2DDA2E8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DB2B0-59F1-0FAE-95B1-19D3DB6F83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19142"/>
            <a:ext cx="3720548" cy="438771"/>
          </a:xfrm>
        </p:spPr>
        <p:txBody>
          <a:bodyPr>
            <a:normAutofit/>
          </a:bodyPr>
          <a:lstStyle/>
          <a:p>
            <a:pPr algn="l"/>
            <a:r>
              <a:rPr lang="en-US" sz="2400" dirty="0">
                <a:solidFill>
                  <a:schemeClr val="bg1"/>
                </a:solidFill>
              </a:rPr>
              <a:t>Types – chapter 6</a:t>
            </a:r>
            <a:endParaRPr lang="en-IN" sz="2400" dirty="0">
              <a:solidFill>
                <a:schemeClr val="bg1"/>
              </a:solidFill>
            </a:endParaRPr>
          </a:p>
        </p:txBody>
      </p:sp>
      <p:pic>
        <p:nvPicPr>
          <p:cNvPr id="1026" name="Picture 2" descr="Typescript - Free logo icons">
            <a:extLst>
              <a:ext uri="{FF2B5EF4-FFF2-40B4-BE49-F238E27FC236}">
                <a16:creationId xmlns:a16="http://schemas.microsoft.com/office/drawing/2014/main" id="{D873E9F2-A285-C156-32BC-D94449E99E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014" y="268224"/>
            <a:ext cx="767777" cy="767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30D2C36-1C63-F7A4-0133-E641F8E573CA}"/>
              </a:ext>
            </a:extLst>
          </p:cNvPr>
          <p:cNvSpPr txBox="1"/>
          <p:nvPr/>
        </p:nvSpPr>
        <p:spPr>
          <a:xfrm>
            <a:off x="1013791" y="482602"/>
            <a:ext cx="4993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037DA"/>
                </a:solidFill>
                <a:latin typeface="Segoe UI Variable Text Semibold" pitchFamily="2" charset="0"/>
              </a:rPr>
              <a:t>TypeScript</a:t>
            </a:r>
            <a:endParaRPr lang="en-IN" sz="3600" b="1" dirty="0">
              <a:latin typeface="Bahnschrift SemiBold SemiConden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DF3C19-E60E-47B9-646C-D11A4D514E96}"/>
              </a:ext>
            </a:extLst>
          </p:cNvPr>
          <p:cNvSpPr txBox="1"/>
          <p:nvPr/>
        </p:nvSpPr>
        <p:spPr>
          <a:xfrm>
            <a:off x="8827825" y="288785"/>
            <a:ext cx="311816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92D050"/>
                </a:solidFill>
                <a:latin typeface="Bahnschrift SemiBold SemiConden" panose="020B0502040204020203" pitchFamily="34" charset="0"/>
              </a:rPr>
              <a:t>Chapter 3</a:t>
            </a:r>
            <a:endParaRPr lang="en-IN" sz="6000" dirty="0">
              <a:solidFill>
                <a:srgbClr val="92D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9BEACD-10F3-6806-C908-1EECD4ADF276}"/>
              </a:ext>
            </a:extLst>
          </p:cNvPr>
          <p:cNvSpPr txBox="1"/>
          <p:nvPr/>
        </p:nvSpPr>
        <p:spPr>
          <a:xfrm>
            <a:off x="2643952" y="2644170"/>
            <a:ext cx="741332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600" b="1" dirty="0">
                <a:solidFill>
                  <a:schemeClr val="accent1"/>
                </a:solidFill>
                <a:latin typeface="Bahnschrift SemiBold SemiConden" panose="020B0502040204020203" pitchFamily="34" charset="0"/>
              </a:rPr>
              <a:t>Examples</a:t>
            </a:r>
            <a:endParaRPr lang="en-US" sz="2800" dirty="0">
              <a:solidFill>
                <a:schemeClr val="tx1">
                  <a:lumMod val="65000"/>
                  <a:lumOff val="35000"/>
                </a:schemeClr>
              </a:solidFill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94917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FF27E-8816-2FF6-5DD8-ED1F2300B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6E35A-2793-E6B7-7D09-5D5CF3952E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19142"/>
            <a:ext cx="3720548" cy="438771"/>
          </a:xfrm>
        </p:spPr>
        <p:txBody>
          <a:bodyPr>
            <a:normAutofit/>
          </a:bodyPr>
          <a:lstStyle/>
          <a:p>
            <a:pPr algn="l"/>
            <a:r>
              <a:rPr lang="en-US" sz="2400" dirty="0">
                <a:solidFill>
                  <a:schemeClr val="bg1"/>
                </a:solidFill>
              </a:rPr>
              <a:t>Types – chapter 6</a:t>
            </a:r>
            <a:endParaRPr lang="en-IN" sz="2400" dirty="0">
              <a:solidFill>
                <a:schemeClr val="bg1"/>
              </a:solidFill>
            </a:endParaRPr>
          </a:p>
        </p:txBody>
      </p:sp>
      <p:pic>
        <p:nvPicPr>
          <p:cNvPr id="1026" name="Picture 2" descr="Typescript - Free logo icons">
            <a:extLst>
              <a:ext uri="{FF2B5EF4-FFF2-40B4-BE49-F238E27FC236}">
                <a16:creationId xmlns:a16="http://schemas.microsoft.com/office/drawing/2014/main" id="{DA83B2BF-1968-35C9-E51E-63C0B0D780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672" y="867819"/>
            <a:ext cx="2574367" cy="25743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074DF12-0435-8DA8-8B97-9C83B467146E}"/>
              </a:ext>
            </a:extLst>
          </p:cNvPr>
          <p:cNvSpPr txBox="1"/>
          <p:nvPr/>
        </p:nvSpPr>
        <p:spPr>
          <a:xfrm>
            <a:off x="3202516" y="1985711"/>
            <a:ext cx="676094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dirty="0">
                <a:solidFill>
                  <a:srgbClr val="0037DA"/>
                </a:solidFill>
                <a:latin typeface="Segoe UI Variable Text Semibold" pitchFamily="2" charset="0"/>
              </a:rPr>
              <a:t>TypeScript</a:t>
            </a:r>
            <a:endParaRPr lang="en-IN" sz="9600" b="1" dirty="0">
              <a:latin typeface="Bahnschrift SemiBold SemiConden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0D7E37-21D5-581E-07E5-5955511255A9}"/>
              </a:ext>
            </a:extLst>
          </p:cNvPr>
          <p:cNvSpPr txBox="1"/>
          <p:nvPr/>
        </p:nvSpPr>
        <p:spPr>
          <a:xfrm>
            <a:off x="6905832" y="144544"/>
            <a:ext cx="448552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Bahnschrift SemiBold SemiConden" panose="020B0502040204020203" pitchFamily="34" charset="0"/>
              </a:rPr>
              <a:t>Chapter 3</a:t>
            </a:r>
            <a:endParaRPr lang="en-IN" sz="88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E1DCA7-BD31-F6FC-4A25-2E4610E39DF4}"/>
              </a:ext>
            </a:extLst>
          </p:cNvPr>
          <p:cNvSpPr txBox="1"/>
          <p:nvPr/>
        </p:nvSpPr>
        <p:spPr>
          <a:xfrm>
            <a:off x="201622" y="3750906"/>
            <a:ext cx="1161070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600" b="1" dirty="0">
                <a:solidFill>
                  <a:srgbClr val="00B050"/>
                </a:solidFill>
                <a:latin typeface="Arial Rounded MT Bold" panose="020F0704030504030204" pitchFamily="34" charset="0"/>
              </a:rPr>
              <a:t>How &amp; where to use </a:t>
            </a:r>
            <a:endParaRPr lang="en-US" sz="9600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1000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3055E-1AC1-CFCC-0A54-A9EE106CC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A9EBD-80E1-4E97-382E-8EEF6A4F17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19142"/>
            <a:ext cx="3720548" cy="438771"/>
          </a:xfrm>
        </p:spPr>
        <p:txBody>
          <a:bodyPr>
            <a:normAutofit/>
          </a:bodyPr>
          <a:lstStyle/>
          <a:p>
            <a:pPr algn="l"/>
            <a:r>
              <a:rPr lang="en-US" sz="2400" dirty="0">
                <a:solidFill>
                  <a:schemeClr val="bg1"/>
                </a:solidFill>
              </a:rPr>
              <a:t>Types – chapter 6</a:t>
            </a:r>
            <a:endParaRPr lang="en-IN" sz="2400" dirty="0">
              <a:solidFill>
                <a:schemeClr val="bg1"/>
              </a:solidFill>
            </a:endParaRPr>
          </a:p>
        </p:txBody>
      </p:sp>
      <p:pic>
        <p:nvPicPr>
          <p:cNvPr id="1026" name="Picture 2" descr="Typescript - Free logo icons">
            <a:extLst>
              <a:ext uri="{FF2B5EF4-FFF2-40B4-BE49-F238E27FC236}">
                <a16:creationId xmlns:a16="http://schemas.microsoft.com/office/drawing/2014/main" id="{F54D5690-9E69-D062-3942-FD776AAE03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672" y="867819"/>
            <a:ext cx="2441331" cy="2441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459FC27-DEC5-18A0-139B-94773A75AF9E}"/>
              </a:ext>
            </a:extLst>
          </p:cNvPr>
          <p:cNvSpPr txBox="1"/>
          <p:nvPr/>
        </p:nvSpPr>
        <p:spPr>
          <a:xfrm>
            <a:off x="3202516" y="1985711"/>
            <a:ext cx="676094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dirty="0">
                <a:solidFill>
                  <a:srgbClr val="0037DA"/>
                </a:solidFill>
                <a:latin typeface="Segoe UI Variable Text Semibold" pitchFamily="2" charset="0"/>
              </a:rPr>
              <a:t>TypeScript</a:t>
            </a:r>
            <a:endParaRPr lang="en-IN" sz="8000" b="1" dirty="0">
              <a:latin typeface="Bahnschrift SemiBold SemiConden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78D4D0-37BE-911D-F50A-D0E3C23948DD}"/>
              </a:ext>
            </a:extLst>
          </p:cNvPr>
          <p:cNvSpPr txBox="1"/>
          <p:nvPr/>
        </p:nvSpPr>
        <p:spPr>
          <a:xfrm>
            <a:off x="6905832" y="144544"/>
            <a:ext cx="448552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Bahnschrift SemiBold SemiConden" panose="020B0502040204020203" pitchFamily="34" charset="0"/>
              </a:rPr>
              <a:t>Chapter 4</a:t>
            </a:r>
            <a:endParaRPr lang="en-IN" sz="88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E8063A-7E1C-3F0A-796D-21BE9720F800}"/>
              </a:ext>
            </a:extLst>
          </p:cNvPr>
          <p:cNvSpPr txBox="1"/>
          <p:nvPr/>
        </p:nvSpPr>
        <p:spPr>
          <a:xfrm>
            <a:off x="290647" y="3167389"/>
            <a:ext cx="11610706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0"/>
              </a:lnSpc>
            </a:pPr>
            <a:r>
              <a:rPr lang="en-US" sz="8000" b="1" dirty="0">
                <a:latin typeface="Bahnschrift SemiCondensed" panose="020B0502040204020203" pitchFamily="34" charset="0"/>
              </a:rPr>
              <a:t>Annotate</a:t>
            </a:r>
            <a:br>
              <a:rPr lang="en-US" sz="15000" b="1" dirty="0">
                <a:solidFill>
                  <a:srgbClr val="00B050"/>
                </a:solidFill>
                <a:latin typeface="Arial Rounded MT Bold" panose="020F0704030504030204" pitchFamily="34" charset="0"/>
              </a:rPr>
            </a:br>
            <a:r>
              <a:rPr lang="en-US" sz="12000" b="1" dirty="0">
                <a:solidFill>
                  <a:srgbClr val="00B050"/>
                </a:solidFill>
                <a:latin typeface="Arial Rounded MT Bold" panose="020F0704030504030204" pitchFamily="34" charset="0"/>
              </a:rPr>
              <a:t>primitive data</a:t>
            </a:r>
            <a:endParaRPr lang="en-US" sz="12000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96153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61417-FF48-BD36-0317-7DD4DF1CD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27054-030D-86F1-4F81-ACF29A5D01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19142"/>
            <a:ext cx="3720548" cy="438771"/>
          </a:xfrm>
        </p:spPr>
        <p:txBody>
          <a:bodyPr>
            <a:normAutofit/>
          </a:bodyPr>
          <a:lstStyle/>
          <a:p>
            <a:pPr algn="l"/>
            <a:r>
              <a:rPr lang="en-US" sz="2400" dirty="0">
                <a:solidFill>
                  <a:schemeClr val="bg1"/>
                </a:solidFill>
              </a:rPr>
              <a:t>Types – chapter 6</a:t>
            </a:r>
            <a:endParaRPr lang="en-IN" sz="2400" dirty="0">
              <a:solidFill>
                <a:schemeClr val="bg1"/>
              </a:solidFill>
            </a:endParaRPr>
          </a:p>
        </p:txBody>
      </p:sp>
      <p:pic>
        <p:nvPicPr>
          <p:cNvPr id="1026" name="Picture 2" descr="Typescript - Free logo icons">
            <a:extLst>
              <a:ext uri="{FF2B5EF4-FFF2-40B4-BE49-F238E27FC236}">
                <a16:creationId xmlns:a16="http://schemas.microsoft.com/office/drawing/2014/main" id="{BF1CA1B7-624B-B4BF-82BF-86877781D7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672" y="867819"/>
            <a:ext cx="2441331" cy="2441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C228DD-D519-7981-3247-F0C59580696C}"/>
              </a:ext>
            </a:extLst>
          </p:cNvPr>
          <p:cNvSpPr txBox="1"/>
          <p:nvPr/>
        </p:nvSpPr>
        <p:spPr>
          <a:xfrm>
            <a:off x="3202516" y="1985711"/>
            <a:ext cx="676094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dirty="0">
                <a:solidFill>
                  <a:srgbClr val="0037DA"/>
                </a:solidFill>
                <a:latin typeface="Segoe UI Variable Text Semibold" pitchFamily="2" charset="0"/>
              </a:rPr>
              <a:t>TypeScript</a:t>
            </a:r>
            <a:endParaRPr lang="en-IN" sz="8000" b="1" dirty="0">
              <a:latin typeface="Bahnschrift SemiBold SemiConden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38DB93-FAF8-A801-A528-C2905EB4A8E9}"/>
              </a:ext>
            </a:extLst>
          </p:cNvPr>
          <p:cNvSpPr txBox="1"/>
          <p:nvPr/>
        </p:nvSpPr>
        <p:spPr>
          <a:xfrm>
            <a:off x="6905832" y="144544"/>
            <a:ext cx="4429418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Bahnschrift SemiBold SemiConden" panose="020B0502040204020203" pitchFamily="34" charset="0"/>
              </a:rPr>
              <a:t>Chapter 5</a:t>
            </a:r>
            <a:endParaRPr lang="en-IN" sz="88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79390C-7914-8C3F-2A33-17FCF6C78A0C}"/>
              </a:ext>
            </a:extLst>
          </p:cNvPr>
          <p:cNvSpPr txBox="1"/>
          <p:nvPr/>
        </p:nvSpPr>
        <p:spPr>
          <a:xfrm>
            <a:off x="290647" y="3167389"/>
            <a:ext cx="11610706" cy="32420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0"/>
              </a:lnSpc>
            </a:pPr>
            <a:r>
              <a:rPr lang="en-US" sz="8000" b="1" dirty="0">
                <a:latin typeface="Bahnschrift SemiCondensed" panose="020B0502040204020203" pitchFamily="34" charset="0"/>
              </a:rPr>
              <a:t>Annotate</a:t>
            </a:r>
            <a:br>
              <a:rPr lang="en-US" sz="15000" b="1" dirty="0">
                <a:solidFill>
                  <a:srgbClr val="00B050"/>
                </a:solidFill>
                <a:latin typeface="Arial Rounded MT Bold" panose="020F0704030504030204" pitchFamily="34" charset="0"/>
              </a:rPr>
            </a:br>
            <a:r>
              <a:rPr lang="en-US" sz="15000" b="1" dirty="0">
                <a:solidFill>
                  <a:srgbClr val="00B050"/>
                </a:solidFill>
                <a:latin typeface="Arial Rounded MT Bold" panose="020F0704030504030204" pitchFamily="34" charset="0"/>
              </a:rPr>
              <a:t>object</a:t>
            </a:r>
            <a:endParaRPr lang="en-US" sz="15000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41774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F3FF2-C4C7-35D3-972C-278DAC023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76E2C-BA8F-D3AB-673F-93E239AB4C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19142"/>
            <a:ext cx="3720548" cy="438771"/>
          </a:xfrm>
        </p:spPr>
        <p:txBody>
          <a:bodyPr>
            <a:normAutofit/>
          </a:bodyPr>
          <a:lstStyle/>
          <a:p>
            <a:pPr algn="l"/>
            <a:r>
              <a:rPr lang="en-US" sz="2400" dirty="0">
                <a:solidFill>
                  <a:schemeClr val="bg1"/>
                </a:solidFill>
              </a:rPr>
              <a:t>Types – chapter 6</a:t>
            </a:r>
            <a:endParaRPr lang="en-IN" sz="2400" dirty="0">
              <a:solidFill>
                <a:schemeClr val="bg1"/>
              </a:solidFill>
            </a:endParaRPr>
          </a:p>
        </p:txBody>
      </p:sp>
      <p:pic>
        <p:nvPicPr>
          <p:cNvPr id="1026" name="Picture 2" descr="Typescript - Free logo icons">
            <a:extLst>
              <a:ext uri="{FF2B5EF4-FFF2-40B4-BE49-F238E27FC236}">
                <a16:creationId xmlns:a16="http://schemas.microsoft.com/office/drawing/2014/main" id="{926BB54C-7516-A36D-9452-E9621B405C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672" y="867819"/>
            <a:ext cx="2441331" cy="2441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9F0AE13-B58B-EB88-E197-7229DD38D2D2}"/>
              </a:ext>
            </a:extLst>
          </p:cNvPr>
          <p:cNvSpPr txBox="1"/>
          <p:nvPr/>
        </p:nvSpPr>
        <p:spPr>
          <a:xfrm>
            <a:off x="3202516" y="1985711"/>
            <a:ext cx="676094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dirty="0">
                <a:solidFill>
                  <a:srgbClr val="0037DA"/>
                </a:solidFill>
                <a:latin typeface="Segoe UI Variable Text Semibold" pitchFamily="2" charset="0"/>
              </a:rPr>
              <a:t>TypeScript</a:t>
            </a:r>
            <a:endParaRPr lang="en-IN" sz="8000" b="1" dirty="0">
              <a:latin typeface="Bahnschrift SemiBold SemiConden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A61822-54EE-1D71-81EE-8828213CEB39}"/>
              </a:ext>
            </a:extLst>
          </p:cNvPr>
          <p:cNvSpPr txBox="1"/>
          <p:nvPr/>
        </p:nvSpPr>
        <p:spPr>
          <a:xfrm>
            <a:off x="6905832" y="144544"/>
            <a:ext cx="4429418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Bahnschrift SemiBold SemiConden" panose="020B0502040204020203" pitchFamily="34" charset="0"/>
              </a:rPr>
              <a:t>Chapter 6</a:t>
            </a:r>
            <a:endParaRPr lang="en-IN" sz="88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B18A00-AE66-FE66-D8C7-FBCD3F5B2BD8}"/>
              </a:ext>
            </a:extLst>
          </p:cNvPr>
          <p:cNvSpPr txBox="1"/>
          <p:nvPr/>
        </p:nvSpPr>
        <p:spPr>
          <a:xfrm>
            <a:off x="290647" y="3167389"/>
            <a:ext cx="11610706" cy="32420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0"/>
              </a:lnSpc>
            </a:pPr>
            <a:r>
              <a:rPr lang="en-US" sz="8000" b="1" dirty="0">
                <a:latin typeface="Bahnschrift SemiCondensed" panose="020B0502040204020203" pitchFamily="34" charset="0"/>
              </a:rPr>
              <a:t>Annotate</a:t>
            </a:r>
            <a:br>
              <a:rPr lang="en-US" sz="15000" b="1" dirty="0">
                <a:solidFill>
                  <a:srgbClr val="00B050"/>
                </a:solidFill>
                <a:latin typeface="Arial Rounded MT Bold" panose="020F0704030504030204" pitchFamily="34" charset="0"/>
              </a:rPr>
            </a:br>
            <a:r>
              <a:rPr lang="en-US" sz="15000" b="1" dirty="0">
                <a:solidFill>
                  <a:srgbClr val="00B050"/>
                </a:solidFill>
                <a:latin typeface="Arial Rounded MT Bold" panose="020F0704030504030204" pitchFamily="34" charset="0"/>
              </a:rPr>
              <a:t>function</a:t>
            </a:r>
            <a:endParaRPr lang="en-US" sz="15000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99682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905AD-F7A2-BFDE-08B0-9D6065ED8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087FA-057B-8E65-2096-695F97BAF3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19142"/>
            <a:ext cx="3720548" cy="438771"/>
          </a:xfrm>
        </p:spPr>
        <p:txBody>
          <a:bodyPr>
            <a:normAutofit/>
          </a:bodyPr>
          <a:lstStyle/>
          <a:p>
            <a:pPr algn="l"/>
            <a:r>
              <a:rPr lang="en-US" sz="2400" dirty="0">
                <a:solidFill>
                  <a:schemeClr val="bg1"/>
                </a:solidFill>
              </a:rPr>
              <a:t>Types – chapter 6</a:t>
            </a:r>
            <a:endParaRPr lang="en-IN" sz="2400" dirty="0">
              <a:solidFill>
                <a:schemeClr val="bg1"/>
              </a:solidFill>
            </a:endParaRPr>
          </a:p>
        </p:txBody>
      </p:sp>
      <p:pic>
        <p:nvPicPr>
          <p:cNvPr id="1026" name="Picture 2" descr="Typescript - Free logo icons">
            <a:extLst>
              <a:ext uri="{FF2B5EF4-FFF2-40B4-BE49-F238E27FC236}">
                <a16:creationId xmlns:a16="http://schemas.microsoft.com/office/drawing/2014/main" id="{FBFCDDC4-F86A-1786-E670-A8B0D26939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672" y="867819"/>
            <a:ext cx="2441331" cy="2441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AD4D6D5-BFFF-E370-977E-4204B2F653BF}"/>
              </a:ext>
            </a:extLst>
          </p:cNvPr>
          <p:cNvSpPr txBox="1"/>
          <p:nvPr/>
        </p:nvSpPr>
        <p:spPr>
          <a:xfrm>
            <a:off x="3202516" y="1985711"/>
            <a:ext cx="676094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dirty="0">
                <a:solidFill>
                  <a:srgbClr val="0037DA"/>
                </a:solidFill>
                <a:latin typeface="Segoe UI Variable Text Semibold" pitchFamily="2" charset="0"/>
              </a:rPr>
              <a:t>TypeScript</a:t>
            </a:r>
            <a:endParaRPr lang="en-IN" sz="8000" b="1" dirty="0">
              <a:latin typeface="Bahnschrift SemiBold SemiConden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5CB7DB-DCD4-9650-A64E-58E5F725517D}"/>
              </a:ext>
            </a:extLst>
          </p:cNvPr>
          <p:cNvSpPr txBox="1"/>
          <p:nvPr/>
        </p:nvSpPr>
        <p:spPr>
          <a:xfrm>
            <a:off x="6905832" y="144544"/>
            <a:ext cx="4429418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Bahnschrift SemiBold SemiConden" panose="020B0502040204020203" pitchFamily="34" charset="0"/>
              </a:rPr>
              <a:t>Chapter 7</a:t>
            </a:r>
            <a:endParaRPr lang="en-IN" sz="88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4A4F67-221F-1BF3-DC29-8AE35ED2FC8F}"/>
              </a:ext>
            </a:extLst>
          </p:cNvPr>
          <p:cNvSpPr txBox="1"/>
          <p:nvPr/>
        </p:nvSpPr>
        <p:spPr>
          <a:xfrm>
            <a:off x="290647" y="3837086"/>
            <a:ext cx="11610706" cy="1703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0"/>
              </a:lnSpc>
            </a:pPr>
            <a:r>
              <a:rPr lang="en-US" sz="8000" b="1" dirty="0">
                <a:latin typeface="Bahnschrift SemiCondensed" panose="020B0502040204020203" pitchFamily="34" charset="0"/>
              </a:rPr>
              <a:t>What is </a:t>
            </a:r>
            <a:r>
              <a:rPr lang="en-US" sz="15000" b="1" dirty="0">
                <a:solidFill>
                  <a:srgbClr val="00B050"/>
                </a:solidFill>
                <a:latin typeface="Arial Rounded MT Bold" panose="020F0704030504030204" pitchFamily="34" charset="0"/>
              </a:rPr>
              <a:t>:any</a:t>
            </a:r>
            <a:r>
              <a:rPr lang="en-US" sz="8000" b="1" dirty="0">
                <a:latin typeface="Bahnschrift SemiCondensed" panose="020B0502040204020203" pitchFamily="34" charset="0"/>
              </a:rPr>
              <a:t>?</a:t>
            </a:r>
            <a:endParaRPr lang="en-US" sz="8000" dirty="0">
              <a:latin typeface="Bahnschrift SemiCondensed" panose="020B0502040204020203" pitchFamily="34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00977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86D83-EEE2-C589-2551-6788D100B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3C90A-ACA3-100C-EFD2-4A82FEB7C4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19142"/>
            <a:ext cx="3720548" cy="438771"/>
          </a:xfrm>
        </p:spPr>
        <p:txBody>
          <a:bodyPr>
            <a:normAutofit/>
          </a:bodyPr>
          <a:lstStyle/>
          <a:p>
            <a:pPr algn="l"/>
            <a:r>
              <a:rPr lang="en-US" sz="2400" dirty="0">
                <a:solidFill>
                  <a:schemeClr val="bg1"/>
                </a:solidFill>
              </a:rPr>
              <a:t>Types – chapter 6</a:t>
            </a:r>
            <a:endParaRPr lang="en-IN" sz="2400" dirty="0">
              <a:solidFill>
                <a:schemeClr val="bg1"/>
              </a:solidFill>
            </a:endParaRPr>
          </a:p>
        </p:txBody>
      </p:sp>
      <p:pic>
        <p:nvPicPr>
          <p:cNvPr id="1026" name="Picture 2" descr="Typescript - Free logo icons">
            <a:extLst>
              <a:ext uri="{FF2B5EF4-FFF2-40B4-BE49-F238E27FC236}">
                <a16:creationId xmlns:a16="http://schemas.microsoft.com/office/drawing/2014/main" id="{F3ADB775-E87E-8C7C-8797-20803BB0AF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672" y="867819"/>
            <a:ext cx="2441331" cy="2441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684E3F7-1D4C-5888-9A06-8A2DE14BF40A}"/>
              </a:ext>
            </a:extLst>
          </p:cNvPr>
          <p:cNvSpPr txBox="1"/>
          <p:nvPr/>
        </p:nvSpPr>
        <p:spPr>
          <a:xfrm>
            <a:off x="3202516" y="1985711"/>
            <a:ext cx="676094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dirty="0">
                <a:solidFill>
                  <a:srgbClr val="0037DA"/>
                </a:solidFill>
                <a:latin typeface="Segoe UI Variable Text Semibold" pitchFamily="2" charset="0"/>
              </a:rPr>
              <a:t>TypeScript</a:t>
            </a:r>
            <a:endParaRPr lang="en-IN" sz="8000" b="1" dirty="0">
              <a:latin typeface="Bahnschrift SemiBold SemiConden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802264-F2FC-F180-F09C-E03615BCB2BD}"/>
              </a:ext>
            </a:extLst>
          </p:cNvPr>
          <p:cNvSpPr txBox="1"/>
          <p:nvPr/>
        </p:nvSpPr>
        <p:spPr>
          <a:xfrm>
            <a:off x="6905832" y="144544"/>
            <a:ext cx="4429418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Bahnschrift SemiBold SemiConden" panose="020B0502040204020203" pitchFamily="34" charset="0"/>
              </a:rPr>
              <a:t>Chapter 8</a:t>
            </a:r>
            <a:endParaRPr lang="en-IN" sz="88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57DBE0-4CCA-95F4-00DC-24DDF473828E}"/>
              </a:ext>
            </a:extLst>
          </p:cNvPr>
          <p:cNvSpPr txBox="1"/>
          <p:nvPr/>
        </p:nvSpPr>
        <p:spPr>
          <a:xfrm>
            <a:off x="290647" y="3548851"/>
            <a:ext cx="11610706" cy="240142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>
              <a:lnSpc>
                <a:spcPts val="9000"/>
              </a:lnSpc>
            </a:pPr>
            <a:r>
              <a:rPr lang="en-US" sz="8000" b="1" dirty="0">
                <a:latin typeface="Bahnschrift SemiCondensed" panose="020B0502040204020203" pitchFamily="34" charset="0"/>
              </a:rPr>
              <a:t>Optional Annotation</a:t>
            </a:r>
            <a:br>
              <a:rPr lang="en-US" sz="8000" b="1" dirty="0">
                <a:latin typeface="Bahnschrift SemiCondensed" panose="020B0502040204020203" pitchFamily="34" charset="0"/>
              </a:rPr>
            </a:br>
            <a:r>
              <a:rPr lang="en-US" sz="9600" b="1" dirty="0">
                <a:solidFill>
                  <a:srgbClr val="00B050"/>
                </a:solidFill>
                <a:latin typeface="Arial Rounded MT Bold" panose="020F0704030504030204" pitchFamily="34" charset="0"/>
              </a:rPr>
              <a:t>: </a:t>
            </a:r>
            <a:r>
              <a:rPr lang="en-US" sz="9600" b="1" dirty="0" err="1">
                <a:solidFill>
                  <a:srgbClr val="00B050"/>
                </a:solidFill>
                <a:latin typeface="Arial Rounded MT Bold" panose="020F0704030504030204" pitchFamily="34" charset="0"/>
              </a:rPr>
              <a:t>boolean</a:t>
            </a:r>
            <a:r>
              <a:rPr lang="en-US" sz="9600" b="1" dirty="0">
                <a:solidFill>
                  <a:srgbClr val="00B050"/>
                </a:solidFill>
                <a:latin typeface="Arial Rounded MT Bold" panose="020F0704030504030204" pitchFamily="34" charset="0"/>
              </a:rPr>
              <a:t> </a:t>
            </a:r>
            <a:r>
              <a:rPr lang="en-US" sz="9600" b="1" dirty="0">
                <a:latin typeface="Arial Rounded MT Bold" panose="020F0704030504030204" pitchFamily="34" charset="0"/>
              </a:rPr>
              <a:t>|</a:t>
            </a:r>
            <a:r>
              <a:rPr lang="en-US" sz="9600" b="1" dirty="0">
                <a:solidFill>
                  <a:srgbClr val="00B050"/>
                </a:solidFill>
                <a:latin typeface="Arial Rounded MT Bold" panose="020F0704030504030204" pitchFamily="34" charset="0"/>
              </a:rPr>
              <a:t> number</a:t>
            </a:r>
            <a:endParaRPr lang="en-US" sz="80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9103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949</TotalTime>
  <Words>347</Words>
  <Application>Microsoft Office PowerPoint</Application>
  <PresentationFormat>Widescreen</PresentationFormat>
  <Paragraphs>79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8" baseType="lpstr">
      <vt:lpstr>ADLaM Display</vt:lpstr>
      <vt:lpstr>Arial</vt:lpstr>
      <vt:lpstr>Arial Rounded MT Bold</vt:lpstr>
      <vt:lpstr>Bahnschrift SemiBold SemiConden</vt:lpstr>
      <vt:lpstr>Bahnschrift SemiCondensed</vt:lpstr>
      <vt:lpstr>Calibri</vt:lpstr>
      <vt:lpstr>Calibri Light</vt:lpstr>
      <vt:lpstr>Cascadia Code SemiBold</vt:lpstr>
      <vt:lpstr>Segoe UI Variable Text Semibold</vt:lpstr>
      <vt:lpstr>Trebuchet MS</vt:lpstr>
      <vt:lpstr>Office Theme</vt:lpstr>
      <vt:lpstr>Install Typescript – Chapter 1</vt:lpstr>
      <vt:lpstr>Install Typescript – Chapter 1</vt:lpstr>
      <vt:lpstr>Install VSCode – Chapter 2</vt:lpstr>
      <vt:lpstr>First App – Chapter 3</vt:lpstr>
      <vt:lpstr>Execute typescript – chapter 4</vt:lpstr>
      <vt:lpstr>Catching Errors – chapter 5</vt:lpstr>
      <vt:lpstr>Catching Errors – chapter 5</vt:lpstr>
      <vt:lpstr>Types – chapter 6</vt:lpstr>
      <vt:lpstr>Types – chapter 6</vt:lpstr>
      <vt:lpstr>Types – chapter 6</vt:lpstr>
      <vt:lpstr>Types – chapter 6</vt:lpstr>
      <vt:lpstr>Types – chapter 6</vt:lpstr>
      <vt:lpstr>Types – chapter 6</vt:lpstr>
      <vt:lpstr>Types – chapter 6</vt:lpstr>
      <vt:lpstr>Types – chapter 6</vt:lpstr>
      <vt:lpstr>Types – chapter 6</vt:lpstr>
      <vt:lpstr>Types – chapter 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Gautam Kumar</dc:creator>
  <cp:lastModifiedBy>Gautam Kumar</cp:lastModifiedBy>
  <cp:revision>84</cp:revision>
  <dcterms:created xsi:type="dcterms:W3CDTF">2025-09-15T12:49:11Z</dcterms:created>
  <dcterms:modified xsi:type="dcterms:W3CDTF">2025-11-10T00:03:20Z</dcterms:modified>
</cp:coreProperties>
</file>